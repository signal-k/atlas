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Users</c:v>
                </c:pt>
              </c:strCache>
            </c:strRef>
          </c:tx>
          <c:spPr>
            <a:solidFill>
              <a:srgbClr val="9B3FF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0B0D14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Signups</c:v>
                  </c:pt>
                  <c:pt idx="1">
                    <c:v>Paying customers</c:v>
                  </c:pt>
                  <c:pt idx="2">
                    <c:v>Paying strangers*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75</c:v>
                </c:pt>
                <c:pt idx="1">
                  <c:v>61</c:v>
                </c:pt>
                <c:pt idx="2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0B0D14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5B5866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years ago I was carrying a telescope worth more than my car. Tonight, all I carry is my phone. This is Atlas — the app that tells you: yes, you CAN stargaze, tonight, from exactly where you 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I've spent my career in this exact space — designing the payload interface for an unmanned moon mission as CTO of Copernic Space, building fraud-prevention technology with Mastercard and NAB, and running my own space-education startup since I was eighteen. But Atlas didn't come from a boardroom. It came from standing outside, phone in hand, not knowing where to look.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Here's the problem: astronomy apps hand beginners the entire sky — every star, every catalog entry — and expect them to figure it out. That's not guidance, that's paralysis. Atlas does the opposite. It takes the maths — altitude, moonlight, cloud cover, timing — and turns it into one sentence: you'll see the Moon clearly tonight, southwest, low on the horizon. We're not giving you 100% of the sky. We're giving you the 90% that's actually visible tonight — free, with the phone already in your pocket.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Plan feature is where this clicks. It bundles the best time, the exact direction, and phone-specific camera settings into one page. Every single free user opened it. All but four started subscribing on the spot. We didn't have to sell this feature — it sold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the two weeks since July 14th: 75 signups, 61 paying customers, CHF 1,028 in revenue — with zero ad spend. Eight of those customers have never met me. Three came from an astronomy group in Amsterdam I barely know. One Instagram story cycle brought 1,254 views and 40 people straight into the app.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Journal entries and photo challenges aren't there to keep people scrolling — they build the confidence to go outside, and the natural next step is meeting other stargazers in person. That's where this grows: affiliate partnerships so users can borrow their way into better gear, dark-sky group tours — the single angle every mentor I've spoken to has flagged as most exciting — and a zero-budget content engine already turning strangers into subscribers.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Atlas exists to say one thing to anyone who's ever looked up and felt lost: you CAN stargaze. Tonight, anywhere, with what's already in your pocket. Thank you.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15788" y="777240"/>
            <a:ext cx="960120" cy="96012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0" y="187452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ATLAS</a:t>
            </a:r>
            <a:endParaRPr lang="en-US" sz="5400" dirty="0"/>
          </a:p>
        </p:txBody>
      </p:sp>
      <p:sp>
        <p:nvSpPr>
          <p:cNvPr id="74" name="Text 71"/>
          <p:cNvSpPr/>
          <p:nvPr/>
        </p:nvSpPr>
        <p:spPr>
          <a:xfrm>
            <a:off x="0" y="2761488"/>
            <a:ext cx="121916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2600" dirty="0"/>
          </a:p>
        </p:txBody>
      </p:sp>
      <p:sp>
        <p:nvSpPr>
          <p:cNvPr id="75" name="Text 72"/>
          <p:cNvSpPr/>
          <p:nvPr/>
        </p:nvSpPr>
        <p:spPr>
          <a:xfrm>
            <a:off x="0" y="3310128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the phone already in your pocket.</a:t>
            </a:r>
            <a:endParaRPr lang="en-US" sz="1500" dirty="0"/>
          </a:p>
        </p:txBody>
      </p:sp>
      <p:sp>
        <p:nvSpPr>
          <p:cNvPr id="76" name="Text 73"/>
          <p:cNvSpPr/>
          <p:nvPr/>
        </p:nvSpPr>
        <p:spPr>
          <a:xfrm>
            <a:off x="0" y="6080760"/>
            <a:ext cx="12191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6F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Liam Martin   ·   European Innovation Academy   ·   youratlas.cc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I'M BUILDING THIS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professional in this industry, building the app he needed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074920" cy="2880360"/>
          </a:xfrm>
          <a:prstGeom prst="roundRect">
            <a:avLst>
              <a:gd name="adj" fmla="val 3810"/>
            </a:avLst>
          </a:prstGeom>
          <a:solidFill>
            <a:srgbClr val="F6F4FB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2240280"/>
            <a:ext cx="4343400" cy="1874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“I’ve spent thousands of francs on telescopes. Right now I live out of a suitcase — just my eyes and a smartphone. Atlas is the app I wished existed on every one of those nights.”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418795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Liam Martin, Founder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080760" y="1874520"/>
            <a:ext cx="512064" cy="512064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8" name="Image 0" descr="/sessions/dreamy-zealous-galileo/mnt/outputs/atlas_deck/assets/icons/rock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27064" y="2020824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793992" y="1847088"/>
            <a:ext cx="47576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CTO, Copernic Space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793992" y="2203704"/>
            <a:ext cx="4757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Aerospace startup — designed the payload interface for an unmanned lunar mission.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80760" y="3172968"/>
            <a:ext cx="512064" cy="512064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1" descr="/sessions/dreamy-zealous-galileo/mnt/outputs/atlas_deck/assets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7064" y="331927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793992" y="3145536"/>
            <a:ext cx="47576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engineer, fraud prevention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793992" y="3502152"/>
            <a:ext cx="4757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consumer anti-scam technology in partnership with Mastercard and NAB.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6080760" y="4471416"/>
            <a:ext cx="512064" cy="512064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16" name="Image 2" descr="/sessions/dreamy-zealous-galileo/mnt/outputs/atlas_deck/assets/icons/sign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7064" y="4617720"/>
            <a:ext cx="219456" cy="21945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793992" y="4443984"/>
            <a:ext cx="4757623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Founder, Signal Kinetics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793992" y="4800600"/>
            <a:ext cx="4757623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space &amp; science products since 2020 — 2,000+ users across the ecosystem.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  →  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the whole sky. Just the part that matters tonight.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4892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Beginners don’t know what’s visible tonight, whether it’s worth going outside, or where to point. Existing apps hand them the whole sky and expect them to figure it out — choice paralysis, not guidance.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2697480"/>
            <a:ext cx="4892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takes the maths — altitude, magnitude, moonlight, cloud cover, timing — and turns it into one sentence a beginner can act on tonight.</a:t>
            </a:r>
            <a:endParaRPr lang="en-US" sz="135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4892040" cy="1234440"/>
          </a:xfrm>
          <a:prstGeom prst="roundRect">
            <a:avLst>
              <a:gd name="adj" fmla="val 7407"/>
            </a:avLst>
          </a:prstGeom>
          <a:solidFill>
            <a:srgbClr val="F6F4FB"/>
          </a:solidFill>
          <a:ln/>
        </p:spPr>
      </p:sp>
      <p:sp>
        <p:nvSpPr>
          <p:cNvPr id="7" name="Text 5"/>
          <p:cNvSpPr/>
          <p:nvPr/>
        </p:nvSpPr>
        <p:spPr>
          <a:xfrm>
            <a:off x="932688" y="3794760"/>
            <a:ext cx="430682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“You would see the Moon clearly, with shape, shadow, or surface detail visible by eye.”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32688" y="4526280"/>
            <a:ext cx="430682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what Atlas told a beginner in London, tonight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5029200"/>
            <a:ext cx="4892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B3FF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90% of the sky. In plain language. For free.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879592" y="1542859"/>
            <a:ext cx="5843016" cy="4046601"/>
          </a:xfrm>
          <a:prstGeom prst="roundRect">
            <a:avLst>
              <a:gd name="adj" fmla="val 3164"/>
            </a:avLst>
          </a:prstGeom>
          <a:solidFill>
            <a:srgbClr val="FFFFFF"/>
          </a:solidFill>
          <a:ln w="12700">
            <a:solidFill>
              <a:srgbClr val="E7E5EC"/>
            </a:solidFill>
            <a:prstDash val="solid"/>
          </a:ln>
          <a:effectLst>
            <a:outerShdw sx="100000" sy="100000" kx="0" ky="0" algn="bl" rotWithShape="0" blurRad="228600" dist="76200" dir="5400000">
              <a:srgbClr val="1B1E2B">
                <a:alpha val="18000"/>
              </a:srgbClr>
            </a:outerShdw>
          </a:effectLst>
        </p:spPr>
      </p:sp>
      <p:pic>
        <p:nvPicPr>
          <p:cNvPr id="11" name="Image 0" descr="/sessions/dreamy-zealous-galileo/mnt/outputs/atlas_deck/assets/plan-c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9320" y="1652587"/>
            <a:ext cx="5623560" cy="382714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2" name="Text 70"/>
          <p:cNvSpPr/>
          <p:nvPr/>
        </p:nvSpPr>
        <p:spPr>
          <a:xfrm>
            <a:off x="640080" y="68580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FEATURE THAT SELLS ITSELF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640080" y="1234440"/>
            <a:ext cx="5212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9200" dirty="0"/>
          </a:p>
        </p:txBody>
      </p:sp>
      <p:sp>
        <p:nvSpPr>
          <p:cNvPr id="74" name="Text 72"/>
          <p:cNvSpPr/>
          <p:nvPr/>
        </p:nvSpPr>
        <p:spPr>
          <a:xfrm>
            <a:off x="640080" y="2542032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free users opened Plan — the trip planner</a:t>
            </a:r>
            <a:endParaRPr lang="en-US" sz="1600" dirty="0"/>
          </a:p>
        </p:txBody>
      </p:sp>
      <p:sp>
        <p:nvSpPr>
          <p:cNvPr id="75" name="Text 73"/>
          <p:cNvSpPr/>
          <p:nvPr/>
        </p:nvSpPr>
        <p:spPr>
          <a:xfrm>
            <a:off x="640080" y="3246120"/>
            <a:ext cx="5394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but 4 started subscribing on the spot.</a:t>
            </a:r>
            <a:endParaRPr lang="en-US" sz="1800" dirty="0"/>
          </a:p>
        </p:txBody>
      </p:sp>
      <p:sp>
        <p:nvSpPr>
          <p:cNvPr id="76" name="Text 74"/>
          <p:cNvSpPr/>
          <p:nvPr/>
        </p:nvSpPr>
        <p:spPr>
          <a:xfrm>
            <a:off x="640080" y="3886200"/>
            <a:ext cx="53949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bundles the best time, the exact direction, dark-sky conditions, and phone-specific camera settings into one page. It's the moment a beginner realizes this is a real, usable plan — and the moment they pay for the deeper version.</a:t>
            </a:r>
            <a:endParaRPr lang="en-US" sz="1350" dirty="0"/>
          </a:p>
        </p:txBody>
      </p:sp>
      <p:sp>
        <p:nvSpPr>
          <p:cNvPr id="77" name="Shape 75"/>
          <p:cNvSpPr/>
          <p:nvPr/>
        </p:nvSpPr>
        <p:spPr>
          <a:xfrm>
            <a:off x="8641080" y="800100"/>
            <a:ext cx="2443420" cy="5074920"/>
          </a:xfrm>
          <a:prstGeom prst="roundRect">
            <a:avLst>
              <a:gd name="adj" fmla="val 10478"/>
            </a:avLst>
          </a:prstGeom>
          <a:solidFill>
            <a:srgbClr val="12141D"/>
          </a:solidFill>
          <a:ln w="15875">
            <a:solidFill>
              <a:srgbClr val="1A1D2A"/>
            </a:solidFill>
            <a:prstDash val="solid"/>
          </a:ln>
          <a:effectLst>
            <a:outerShdw sx="100000" sy="100000" kx="0" ky="0" algn="bl" rotWithShape="0" blurRad="279400" dist="127000" dir="5400000">
              <a:srgbClr val="000000">
                <a:alpha val="45000"/>
              </a:srgbClr>
            </a:outerShdw>
          </a:effectLst>
        </p:spPr>
      </p:sp>
      <p:pic>
        <p:nvPicPr>
          <p:cNvPr id="78" name="Image 0" descr="/sessions/dreamy-zealous-galileo/mnt/outputs/atlas_deck/assets/today-hu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891540"/>
            <a:ext cx="2260540" cy="4892040"/>
          </a:xfrm>
          <a:prstGeom prst="rect">
            <a:avLst/>
          </a:prstGeom>
        </p:spPr>
      </p:pic>
      <p:sp>
        <p:nvSpPr>
          <p:cNvPr id="79" name="Text 76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4A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80" name="Text 77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A4E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weeks. Real strangers. Real money.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8686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14 July 2026 — zero ad spend.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804672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signups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374136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9" name="Text 7"/>
          <p:cNvSpPr/>
          <p:nvPr/>
        </p:nvSpPr>
        <p:spPr>
          <a:xfrm>
            <a:off x="3538728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538728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customers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08192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CHF 1,028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272784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collected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842248" y="2057400"/>
            <a:ext cx="2587752" cy="1691640"/>
          </a:xfrm>
          <a:prstGeom prst="roundRect">
            <a:avLst>
              <a:gd name="adj" fmla="val 5405"/>
            </a:avLst>
          </a:prstGeom>
          <a:solidFill>
            <a:srgbClr val="0B0D14"/>
          </a:solidFill>
          <a:ln/>
        </p:spPr>
      </p:sp>
      <p:sp>
        <p:nvSpPr>
          <p:cNvPr id="15" name="Text 13"/>
          <p:cNvSpPr/>
          <p:nvPr/>
        </p:nvSpPr>
        <p:spPr>
          <a:xfrm>
            <a:off x="9006840" y="2313432"/>
            <a:ext cx="225856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9006840" y="3136392"/>
            <a:ext cx="225856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paying strangers*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640080" y="3977640"/>
          <a:ext cx="553212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Shape 15"/>
          <p:cNvSpPr/>
          <p:nvPr/>
        </p:nvSpPr>
        <p:spPr>
          <a:xfrm>
            <a:off x="6537960" y="3977640"/>
            <a:ext cx="5029200" cy="1965960"/>
          </a:xfrm>
          <a:prstGeom prst="roundRect">
            <a:avLst>
              <a:gd name="adj" fmla="val 4651"/>
            </a:avLst>
          </a:prstGeom>
          <a:solidFill>
            <a:srgbClr val="F6F4FB"/>
          </a:solidFill>
          <a:ln/>
        </p:spPr>
      </p:sp>
      <p:sp>
        <p:nvSpPr>
          <p:cNvPr id="19" name="Shape 16"/>
          <p:cNvSpPr/>
          <p:nvPr/>
        </p:nvSpPr>
        <p:spPr>
          <a:xfrm>
            <a:off x="6812280" y="4251960"/>
            <a:ext cx="457200" cy="45720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20" name="Image 0" descr="/sessions/dreamy-zealous-galileo/mnt/outputs/atlas_deck/assets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8584" y="4398264"/>
            <a:ext cx="164592" cy="164592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812280" y="4873752"/>
            <a:ext cx="4480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b="1" dirty="0">
                <a:solidFill>
                  <a:srgbClr val="0B0D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1,254 Instagram story views → 40 clicks straight into the app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6812280" y="551383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five Stories in a single week, on a personal account.</a:t>
            </a:r>
            <a:endParaRPr lang="en-US" sz="1150" dirty="0"/>
          </a:p>
        </p:txBody>
      </p:sp>
      <p:sp>
        <p:nvSpPr>
          <p:cNvPr id="23" name="Text 19"/>
          <p:cNvSpPr/>
          <p:nvPr/>
        </p:nvSpPr>
        <p:spPr>
          <a:xfrm>
            <a:off x="640080" y="6062472"/>
            <a:ext cx="10881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*8 paying customers with no personal relationship to the founder, + 3 from an Amsterdam astronomy group.</a:t>
            </a:r>
            <a:endParaRPr lang="en-US" sz="950" dirty="0"/>
          </a:p>
        </p:txBody>
      </p:sp>
      <p:sp>
        <p:nvSpPr>
          <p:cNvPr id="24" name="Text 20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B3F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ways this grows from here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881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A87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Journal entries and photo challenges already build the confidence to go outside — here’s where that leads.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6432" cy="3794760"/>
          </a:xfrm>
          <a:prstGeom prst="roundRect">
            <a:avLst>
              <a:gd name="adj" fmla="val 3175"/>
            </a:avLst>
          </a:prstGeom>
          <a:solidFill>
            <a:srgbClr val="F6F4FB"/>
          </a:solidFill>
          <a:ln/>
        </p:spPr>
      </p:sp>
      <p:sp>
        <p:nvSpPr>
          <p:cNvPr id="6" name="Shape 4"/>
          <p:cNvSpPr/>
          <p:nvPr/>
        </p:nvSpPr>
        <p:spPr>
          <a:xfrm>
            <a:off x="932688" y="2441448"/>
            <a:ext cx="548640" cy="54864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7" name="Image 0" descr="/sessions/dreamy-zealous-galileo/mnt/outputs/atlas_deck/assets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2587752"/>
            <a:ext cx="256032" cy="25603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32688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Affiliate &amp; gear partners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32688" y="3840480"/>
            <a:ext cx="287121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Telescope, camera, and binocular partners give users a path into better gear — without needing to own it outright.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15968" y="2148840"/>
            <a:ext cx="3456432" cy="3794760"/>
          </a:xfrm>
          <a:prstGeom prst="roundRect">
            <a:avLst>
              <a:gd name="adj" fmla="val 3175"/>
            </a:avLst>
          </a:prstGeom>
          <a:solidFill>
            <a:srgbClr val="F6F4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08576" y="2441448"/>
            <a:ext cx="548640" cy="548640"/>
          </a:xfrm>
          <a:prstGeom prst="ellipse">
            <a:avLst/>
          </a:prstGeom>
          <a:solidFill>
            <a:srgbClr val="9B3FF2"/>
          </a:solidFill>
          <a:ln/>
        </p:spPr>
      </p:sp>
      <p:pic>
        <p:nvPicPr>
          <p:cNvPr id="12" name="Image 1" descr="/sessions/dreamy-zealous-galileo/mnt/outputs/atlas_deck/assets/icons/bu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2587752"/>
            <a:ext cx="256032" cy="25603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5961888" y="2532888"/>
            <a:ext cx="1554480" cy="329184"/>
          </a:xfrm>
          <a:prstGeom prst="roundRect">
            <a:avLst>
              <a:gd name="adj" fmla="val 50000"/>
            </a:avLst>
          </a:prstGeom>
          <a:solidFill>
            <a:srgbClr val="0B0D14"/>
          </a:solidFill>
          <a:ln/>
        </p:spPr>
      </p:sp>
      <p:sp>
        <p:nvSpPr>
          <p:cNvPr id="14" name="Text 10"/>
          <p:cNvSpPr/>
          <p:nvPr/>
        </p:nvSpPr>
        <p:spPr>
          <a:xfrm>
            <a:off x="5961888" y="2532888"/>
            <a:ext cx="15544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C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Mentor-validated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4608576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&amp; dark-sky tours</a:t>
            </a:r>
            <a:endParaRPr lang="en-US" sz="1700" dirty="0"/>
          </a:p>
        </p:txBody>
      </p:sp>
      <p:sp>
        <p:nvSpPr>
          <p:cNvPr id="16" name="Text 12"/>
          <p:cNvSpPr/>
          <p:nvPr/>
        </p:nvSpPr>
        <p:spPr>
          <a:xfrm>
            <a:off x="4608576" y="3840480"/>
            <a:ext cx="287121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natural next step after a photo online: ticketed, in-person nights at real dark-sky sites — the angle every mentor has flagged as most exciting.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7991856" y="2148840"/>
            <a:ext cx="3456432" cy="3794760"/>
          </a:xfrm>
          <a:prstGeom prst="roundRect">
            <a:avLst>
              <a:gd name="adj" fmla="val 3175"/>
            </a:avLst>
          </a:prstGeom>
          <a:solidFill>
            <a:srgbClr val="F6F4FB"/>
          </a:solidFill>
          <a:ln/>
        </p:spPr>
      </p:sp>
      <p:sp>
        <p:nvSpPr>
          <p:cNvPr id="18" name="Shape 14"/>
          <p:cNvSpPr/>
          <p:nvPr/>
        </p:nvSpPr>
        <p:spPr>
          <a:xfrm>
            <a:off x="8284464" y="2441448"/>
            <a:ext cx="548640" cy="548640"/>
          </a:xfrm>
          <a:prstGeom prst="ellipse">
            <a:avLst/>
          </a:prstGeom>
          <a:solidFill>
            <a:srgbClr val="C9922F"/>
          </a:solidFill>
          <a:ln/>
        </p:spPr>
      </p:sp>
      <p:pic>
        <p:nvPicPr>
          <p:cNvPr id="19" name="Image 2" descr="/sessions/dreamy-zealous-galileo/mnt/outputs/atlas_deck/assets/icons/megaphon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30768" y="2587752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84464" y="3136392"/>
            <a:ext cx="2871216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700" b="1" dirty="0">
                <a:solidFill>
                  <a:srgbClr val="0B0D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Subscriber growth flywheel</a:t>
            </a:r>
            <a:endParaRPr lang="en-US" sz="1700" dirty="0"/>
          </a:p>
        </p:txBody>
      </p:sp>
      <p:sp>
        <p:nvSpPr>
          <p:cNvPr id="21" name="Text 16"/>
          <p:cNvSpPr/>
          <p:nvPr/>
        </p:nvSpPr>
        <p:spPr>
          <a:xfrm>
            <a:off x="8284464" y="3840480"/>
            <a:ext cx="2871216" cy="1874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5B58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zero-budget content engine — YouTube Shorts and The Daily Transit — already turning strangers into subscribers.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640080" y="6419088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ATLAS  ·  EUROPEAN INNOVATION ACADEMY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11002975" y="641908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C9C6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7666" y="399875"/>
            <a:ext cx="50070" cy="5007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341502" y="2765268"/>
            <a:ext cx="31599" cy="31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731867" y="4991010"/>
            <a:ext cx="28220" cy="282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297176" y="3536830"/>
            <a:ext cx="36750" cy="3675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3544536" y="3636598"/>
            <a:ext cx="61292" cy="6129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3003991" y="6005950"/>
            <a:ext cx="27725" cy="2772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8" name="Shape 6"/>
          <p:cNvSpPr/>
          <p:nvPr/>
        </p:nvSpPr>
        <p:spPr>
          <a:xfrm>
            <a:off x="1859074" y="1969044"/>
            <a:ext cx="52599" cy="5259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885024" y="6237469"/>
            <a:ext cx="46956" cy="469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8261957" y="6595253"/>
            <a:ext cx="59009" cy="590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10072040" y="256018"/>
            <a:ext cx="36308" cy="3630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158897" y="111945"/>
            <a:ext cx="52846" cy="5284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4468354" y="2896409"/>
            <a:ext cx="60015" cy="600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Shape 12"/>
          <p:cNvSpPr/>
          <p:nvPr/>
        </p:nvSpPr>
        <p:spPr>
          <a:xfrm>
            <a:off x="8556048" y="4702203"/>
            <a:ext cx="36282" cy="3628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1674641" y="896666"/>
            <a:ext cx="34918" cy="34918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16" name="Shape 14"/>
          <p:cNvSpPr/>
          <p:nvPr/>
        </p:nvSpPr>
        <p:spPr>
          <a:xfrm>
            <a:off x="2309150" y="4323837"/>
            <a:ext cx="23701" cy="2370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8314613" y="6291167"/>
            <a:ext cx="55202" cy="552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7966907" y="6286890"/>
            <a:ext cx="43267" cy="4326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7886605" y="6083093"/>
            <a:ext cx="55660" cy="5566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7222719" y="6588218"/>
            <a:ext cx="44016" cy="4401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9961550" y="21518"/>
            <a:ext cx="35144" cy="3514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8799473" y="3737812"/>
            <a:ext cx="61251" cy="6125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6773625" y="5621333"/>
            <a:ext cx="47790" cy="4779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8988484" y="3767799"/>
            <a:ext cx="31474" cy="314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85826" y="137354"/>
            <a:ext cx="55475" cy="55475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7665160" y="75823"/>
            <a:ext cx="45880" cy="4588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7" name="Shape 25"/>
          <p:cNvSpPr/>
          <p:nvPr/>
        </p:nvSpPr>
        <p:spPr>
          <a:xfrm>
            <a:off x="8708800" y="6791941"/>
            <a:ext cx="61627" cy="6162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7896577" y="5492451"/>
            <a:ext cx="55345" cy="5534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9" name="Shape 27"/>
          <p:cNvSpPr/>
          <p:nvPr/>
        </p:nvSpPr>
        <p:spPr>
          <a:xfrm>
            <a:off x="1673051" y="6795837"/>
            <a:ext cx="44754" cy="4475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0" name="Shape 28"/>
          <p:cNvSpPr/>
          <p:nvPr/>
        </p:nvSpPr>
        <p:spPr>
          <a:xfrm>
            <a:off x="1934089" y="2689570"/>
            <a:ext cx="54677" cy="5467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10473073" y="5016041"/>
            <a:ext cx="61787" cy="6178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7407707" y="5029795"/>
            <a:ext cx="41629" cy="41629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3" name="Shape 31"/>
          <p:cNvSpPr/>
          <p:nvPr/>
        </p:nvSpPr>
        <p:spPr>
          <a:xfrm>
            <a:off x="2773176" y="3976974"/>
            <a:ext cx="56302" cy="5630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2293897" y="3783930"/>
            <a:ext cx="43094" cy="430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5" name="Shape 33"/>
          <p:cNvSpPr/>
          <p:nvPr/>
        </p:nvSpPr>
        <p:spPr>
          <a:xfrm>
            <a:off x="2176436" y="1698259"/>
            <a:ext cx="41158" cy="4115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2071382" y="10564"/>
            <a:ext cx="22915" cy="2291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1295113" y="5997518"/>
            <a:ext cx="24364" cy="2436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38" name="Shape 36"/>
          <p:cNvSpPr/>
          <p:nvPr/>
        </p:nvSpPr>
        <p:spPr>
          <a:xfrm>
            <a:off x="2101194" y="2752042"/>
            <a:ext cx="51410" cy="5141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4464291" y="2443718"/>
            <a:ext cx="50541" cy="5054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9735485" y="3615406"/>
            <a:ext cx="38529" cy="3852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1" name="Shape 39"/>
          <p:cNvSpPr/>
          <p:nvPr/>
        </p:nvSpPr>
        <p:spPr>
          <a:xfrm>
            <a:off x="6832900" y="1980374"/>
            <a:ext cx="53186" cy="531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2" name="Shape 40"/>
          <p:cNvSpPr/>
          <p:nvPr/>
        </p:nvSpPr>
        <p:spPr>
          <a:xfrm>
            <a:off x="947883" y="1701956"/>
            <a:ext cx="55234" cy="55234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3" name="Shape 41"/>
          <p:cNvSpPr/>
          <p:nvPr/>
        </p:nvSpPr>
        <p:spPr>
          <a:xfrm>
            <a:off x="9415063" y="2918286"/>
            <a:ext cx="58974" cy="589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3036488" y="2450876"/>
            <a:ext cx="55352" cy="5535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5" name="Shape 43"/>
          <p:cNvSpPr/>
          <p:nvPr/>
        </p:nvSpPr>
        <p:spPr>
          <a:xfrm>
            <a:off x="4906160" y="6663826"/>
            <a:ext cx="39500" cy="395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098855" y="3654265"/>
            <a:ext cx="57520" cy="5752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47" name="Shape 45"/>
          <p:cNvSpPr/>
          <p:nvPr/>
        </p:nvSpPr>
        <p:spPr>
          <a:xfrm>
            <a:off x="6955860" y="6741318"/>
            <a:ext cx="41887" cy="41887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5303363" y="4762582"/>
            <a:ext cx="44100" cy="4410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7995635" y="1094800"/>
            <a:ext cx="37669" cy="3766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0" name="Shape 48"/>
          <p:cNvSpPr/>
          <p:nvPr/>
        </p:nvSpPr>
        <p:spPr>
          <a:xfrm>
            <a:off x="7416511" y="5853729"/>
            <a:ext cx="33830" cy="3383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1073225" y="4656798"/>
            <a:ext cx="60756" cy="6075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3844401" y="1755134"/>
            <a:ext cx="50928" cy="50928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11261438" y="5347615"/>
            <a:ext cx="60680" cy="60680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54" name="Shape 52"/>
          <p:cNvSpPr/>
          <p:nvPr/>
        </p:nvSpPr>
        <p:spPr>
          <a:xfrm>
            <a:off x="2739751" y="6690518"/>
            <a:ext cx="43609" cy="4360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5" name="Shape 53"/>
          <p:cNvSpPr/>
          <p:nvPr/>
        </p:nvSpPr>
        <p:spPr>
          <a:xfrm>
            <a:off x="4744586" y="4870057"/>
            <a:ext cx="47040" cy="4704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6" name="Shape 54"/>
          <p:cNvSpPr/>
          <p:nvPr/>
        </p:nvSpPr>
        <p:spPr>
          <a:xfrm>
            <a:off x="8828924" y="4245830"/>
            <a:ext cx="32886" cy="328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7" name="Shape 55"/>
          <p:cNvSpPr/>
          <p:nvPr/>
        </p:nvSpPr>
        <p:spPr>
          <a:xfrm>
            <a:off x="10117314" y="3284153"/>
            <a:ext cx="51016" cy="5101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5626843" y="3808454"/>
            <a:ext cx="57674" cy="5767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59" name="Shape 57"/>
          <p:cNvSpPr/>
          <p:nvPr/>
        </p:nvSpPr>
        <p:spPr>
          <a:xfrm>
            <a:off x="11602345" y="1034555"/>
            <a:ext cx="33489" cy="33489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358611" y="2665306"/>
            <a:ext cx="56436" cy="56436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1" name="Shape 59"/>
          <p:cNvSpPr/>
          <p:nvPr/>
        </p:nvSpPr>
        <p:spPr>
          <a:xfrm>
            <a:off x="6442091" y="6205891"/>
            <a:ext cx="41786" cy="4178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2" name="Shape 60"/>
          <p:cNvSpPr/>
          <p:nvPr/>
        </p:nvSpPr>
        <p:spPr>
          <a:xfrm>
            <a:off x="11271063" y="4617845"/>
            <a:ext cx="35365" cy="35365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3" name="Shape 61"/>
          <p:cNvSpPr/>
          <p:nvPr/>
        </p:nvSpPr>
        <p:spPr>
          <a:xfrm>
            <a:off x="11078177" y="6638621"/>
            <a:ext cx="22053" cy="22053"/>
          </a:xfrm>
          <a:prstGeom prst="ellipse">
            <a:avLst/>
          </a:prstGeom>
          <a:solidFill>
            <a:srgbClr val="E8C368">
              <a:alpha val="75000"/>
            </a:srgbClr>
          </a:solidFill>
          <a:ln/>
        </p:spPr>
      </p:sp>
      <p:sp>
        <p:nvSpPr>
          <p:cNvPr id="64" name="Shape 62"/>
          <p:cNvSpPr/>
          <p:nvPr/>
        </p:nvSpPr>
        <p:spPr>
          <a:xfrm>
            <a:off x="2029242" y="5148862"/>
            <a:ext cx="25266" cy="25266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11100424" y="1844126"/>
            <a:ext cx="32494" cy="32494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9659185" y="4914930"/>
            <a:ext cx="39917" cy="39917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11923210" y="546284"/>
            <a:ext cx="37283" cy="3728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9601002" y="4720053"/>
            <a:ext cx="41963" cy="4196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69" name="Shape 67"/>
          <p:cNvSpPr/>
          <p:nvPr/>
        </p:nvSpPr>
        <p:spPr>
          <a:xfrm>
            <a:off x="1274709" y="3288312"/>
            <a:ext cx="43843" cy="43843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0" name="Shape 68"/>
          <p:cNvSpPr/>
          <p:nvPr/>
        </p:nvSpPr>
        <p:spPr>
          <a:xfrm>
            <a:off x="2023373" y="5271360"/>
            <a:ext cx="49781" cy="49781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71" name="Shape 69"/>
          <p:cNvSpPr/>
          <p:nvPr/>
        </p:nvSpPr>
        <p:spPr>
          <a:xfrm>
            <a:off x="10123830" y="227985"/>
            <a:ext cx="50800" cy="50800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pic>
        <p:nvPicPr>
          <p:cNvPr id="72" name="Image 0" descr="/sessions/dreamy-zealous-galileo/mnt/outputs/atlas_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7228" y="1371600"/>
            <a:ext cx="777240" cy="777240"/>
          </a:xfrm>
          <a:prstGeom prst="rect">
            <a:avLst/>
          </a:prstGeom>
        </p:spPr>
      </p:pic>
      <p:sp>
        <p:nvSpPr>
          <p:cNvPr id="73" name="Text 70"/>
          <p:cNvSpPr/>
          <p:nvPr/>
        </p:nvSpPr>
        <p:spPr>
          <a:xfrm>
            <a:off x="0" y="2468880"/>
            <a:ext cx="121916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i="1" dirty="0">
                <a:solidFill>
                  <a:srgbClr val="E8C3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 CAN stargaze.</a:t>
            </a:r>
            <a:endParaRPr lang="en-US" sz="4200" dirty="0"/>
          </a:p>
        </p:txBody>
      </p:sp>
      <p:sp>
        <p:nvSpPr>
          <p:cNvPr id="74" name="Text 71"/>
          <p:cNvSpPr/>
          <p:nvPr/>
        </p:nvSpPr>
        <p:spPr>
          <a:xfrm>
            <a:off x="0" y="3310128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CA3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Tonight. Anywhere. With what’s already in your pocket.</a:t>
            </a:r>
            <a:endParaRPr lang="en-US" sz="1600" dirty="0"/>
          </a:p>
        </p:txBody>
      </p:sp>
      <p:sp>
        <p:nvSpPr>
          <p:cNvPr id="75" name="Text 72"/>
          <p:cNvSpPr/>
          <p:nvPr/>
        </p:nvSpPr>
        <p:spPr>
          <a:xfrm>
            <a:off x="0" y="4663440"/>
            <a:ext cx="12191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youratlas.cc   ·   Liam Martin   ·   liam@skinetics.tech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2026-07-29T21:15:11Z</dcterms:created>
  <dcterms:modified xsi:type="dcterms:W3CDTF">2026-07-29T21:15:11Z</dcterms:modified>
</cp:coreProperties>
</file>