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60-second pitch flow: (1) The problem — people don't know what/when/where to look, so they never do. (2) The solution — Atlas: real-time, personalized, offline-first sky guide, anywhere, any night. (3) Not Sky Guide — Sky Guide is point-and-identify, you must already be outside; Atlas plans before you go outside, and forecasting is free, not a paid add-on. (4) Revenue — freemium subscription. (5) The ask (footer) — astronomy/data partners and seed funding to build past EIA. Point to youratlas.cc.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hyperlink" Target="https://youratlas.cc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solidFill>
            <a:srgbClr val="1F6E96"/>
          </a:solidFill>
          <a:ln/>
        </p:spPr>
      </p:sp>
      <p:sp>
        <p:nvSpPr>
          <p:cNvPr id="3" name="Shape 1"/>
          <p:cNvSpPr/>
          <p:nvPr/>
        </p:nvSpPr>
        <p:spPr>
          <a:xfrm rot="600000">
            <a:off x="399342" y="237159"/>
            <a:ext cx="56327" cy="56327"/>
          </a:xfrm>
          <a:prstGeom prst="star5">
            <a:avLst/>
          </a:prstGeom>
          <a:solidFill>
            <a:srgbClr val="5AB2DE">
              <a:alpha val="86424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780000">
            <a:off x="2425296" y="305629"/>
            <a:ext cx="41975" cy="41975"/>
          </a:xfrm>
          <a:prstGeom prst="star5">
            <a:avLst/>
          </a:prstGeom>
          <a:solidFill>
            <a:srgbClr val="8DCCEA">
              <a:alpha val="84088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1080000">
            <a:off x="9632925" y="292901"/>
            <a:ext cx="42084" cy="42084"/>
          </a:xfrm>
          <a:prstGeom prst="star5">
            <a:avLst/>
          </a:prstGeom>
          <a:solidFill>
            <a:srgbClr val="5AB2DE">
              <a:alpha val="76184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1740000">
            <a:off x="10643518" y="143671"/>
            <a:ext cx="63745" cy="63745"/>
          </a:xfrm>
          <a:prstGeom prst="star5">
            <a:avLst/>
          </a:prstGeom>
          <a:solidFill>
            <a:srgbClr val="FFFFFF">
              <a:alpha val="88712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2640000">
            <a:off x="9957077" y="148499"/>
            <a:ext cx="62077" cy="62077"/>
          </a:xfrm>
          <a:prstGeom prst="star5">
            <a:avLst/>
          </a:prstGeom>
          <a:solidFill>
            <a:srgbClr val="FF7A59">
              <a:alpha val="84216"/>
            </a:srgbClr>
          </a:solidFill>
          <a:ln/>
        </p:spPr>
      </p:sp>
      <p:sp>
        <p:nvSpPr>
          <p:cNvPr id="8" name="Shape 6"/>
          <p:cNvSpPr/>
          <p:nvPr/>
        </p:nvSpPr>
        <p:spPr>
          <a:xfrm rot="3000000">
            <a:off x="11825722" y="278855"/>
            <a:ext cx="42896" cy="42896"/>
          </a:xfrm>
          <a:prstGeom prst="star5">
            <a:avLst/>
          </a:prstGeom>
          <a:solidFill>
            <a:srgbClr val="FF7A59">
              <a:alpha val="83544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1380000">
            <a:off x="6563009" y="116458"/>
            <a:ext cx="87929" cy="87929"/>
          </a:xfrm>
          <a:prstGeom prst="star5">
            <a:avLst/>
          </a:prstGeom>
          <a:solidFill>
            <a:srgbClr val="FFC857">
              <a:alpha val="82072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3480000">
            <a:off x="5914703" y="91440"/>
            <a:ext cx="50402" cy="50402"/>
          </a:xfrm>
          <a:prstGeom prst="star5">
            <a:avLst/>
          </a:prstGeom>
          <a:solidFill>
            <a:srgbClr val="FFC857">
              <a:alpha val="85144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3300000">
            <a:off x="1824660" y="328452"/>
            <a:ext cx="113239" cy="113239"/>
          </a:xfrm>
          <a:prstGeom prst="star5">
            <a:avLst/>
          </a:prstGeom>
          <a:solidFill>
            <a:srgbClr val="FF7A59">
              <a:alpha val="8028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1320000">
            <a:off x="642457" y="236281"/>
            <a:ext cx="56590" cy="56590"/>
          </a:xfrm>
          <a:prstGeom prst="star5">
            <a:avLst/>
          </a:prstGeom>
          <a:solidFill>
            <a:srgbClr val="FF7A59">
              <a:alpha val="9468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2100000">
            <a:off x="5151991" y="243742"/>
            <a:ext cx="40131" cy="40131"/>
          </a:xfrm>
          <a:prstGeom prst="star5">
            <a:avLst/>
          </a:prstGeom>
          <a:solidFill>
            <a:srgbClr val="FFFFFF">
              <a:alpha val="86584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1200000">
            <a:off x="404109" y="352154"/>
            <a:ext cx="39166" cy="39166"/>
          </a:xfrm>
          <a:prstGeom prst="star5">
            <a:avLst/>
          </a:prstGeom>
          <a:solidFill>
            <a:srgbClr val="FF7A59">
              <a:alpha val="82008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1680000">
            <a:off x="10414704" y="335036"/>
            <a:ext cx="48646" cy="48646"/>
          </a:xfrm>
          <a:prstGeom prst="star5">
            <a:avLst/>
          </a:prstGeom>
          <a:solidFill>
            <a:srgbClr val="8DCCEA">
              <a:alpha val="89976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3240000">
            <a:off x="1910465" y="290267"/>
            <a:ext cx="54659" cy="54659"/>
          </a:xfrm>
          <a:prstGeom prst="star5">
            <a:avLst/>
          </a:prstGeom>
          <a:solidFill>
            <a:srgbClr val="5AB2DE">
              <a:alpha val="89848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1500000">
            <a:off x="7379574" y="2054767"/>
            <a:ext cx="39780" cy="39780"/>
          </a:xfrm>
          <a:prstGeom prst="star5">
            <a:avLst/>
          </a:prstGeom>
          <a:solidFill>
            <a:srgbClr val="FFC857">
              <a:alpha val="8892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1920000">
            <a:off x="7142561" y="2991844"/>
            <a:ext cx="50094" cy="50094"/>
          </a:xfrm>
          <a:prstGeom prst="star5">
            <a:avLst/>
          </a:prstGeom>
          <a:solidFill>
            <a:srgbClr val="FFFFFF">
              <a:alpha val="86328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480000">
            <a:off x="7708758" y="1001670"/>
            <a:ext cx="63218" cy="63218"/>
          </a:xfrm>
          <a:prstGeom prst="star5">
            <a:avLst/>
          </a:prstGeom>
          <a:solidFill>
            <a:srgbClr val="FFC857">
              <a:alpha val="90072"/>
            </a:srgbClr>
          </a:solidFill>
          <a:ln/>
        </p:spPr>
      </p:sp>
      <p:sp>
        <p:nvSpPr>
          <p:cNvPr id="20" name="Shape 18"/>
          <p:cNvSpPr/>
          <p:nvPr/>
        </p:nvSpPr>
        <p:spPr>
          <a:xfrm rot="2520000">
            <a:off x="8779703" y="2251106"/>
            <a:ext cx="55186" cy="55186"/>
          </a:xfrm>
          <a:prstGeom prst="star5">
            <a:avLst/>
          </a:prstGeom>
          <a:solidFill>
            <a:srgbClr val="FFFFFF">
              <a:alpha val="94360"/>
            </a:srgbClr>
          </a:solidFill>
          <a:ln/>
        </p:spPr>
      </p:sp>
      <p:sp>
        <p:nvSpPr>
          <p:cNvPr id="21" name="Shape 19"/>
          <p:cNvSpPr/>
          <p:nvPr/>
        </p:nvSpPr>
        <p:spPr>
          <a:xfrm rot="1920000">
            <a:off x="9069385" y="2340352"/>
            <a:ext cx="108850" cy="108850"/>
          </a:xfrm>
          <a:prstGeom prst="star5">
            <a:avLst/>
          </a:prstGeom>
          <a:solidFill>
            <a:srgbClr val="FFC857">
              <a:alpha val="81368"/>
            </a:srgbClr>
          </a:solidFill>
          <a:ln/>
        </p:spPr>
      </p:sp>
      <p:sp>
        <p:nvSpPr>
          <p:cNvPr id="22" name="Shape 20"/>
          <p:cNvSpPr/>
          <p:nvPr/>
        </p:nvSpPr>
        <p:spPr>
          <a:xfrm rot="2100000">
            <a:off x="8384682" y="1675473"/>
            <a:ext cx="57315" cy="57315"/>
          </a:xfrm>
          <a:prstGeom prst="star5">
            <a:avLst/>
          </a:prstGeom>
          <a:solidFill>
            <a:srgbClr val="FF7A59">
              <a:alpha val="78872"/>
            </a:srgbClr>
          </a:solidFill>
          <a:ln/>
        </p:spPr>
      </p:sp>
      <p:sp>
        <p:nvSpPr>
          <p:cNvPr id="23" name="Shape 21"/>
          <p:cNvSpPr/>
          <p:nvPr/>
        </p:nvSpPr>
        <p:spPr>
          <a:xfrm rot="3120000">
            <a:off x="7252289" y="2826740"/>
            <a:ext cx="42852" cy="42852"/>
          </a:xfrm>
          <a:prstGeom prst="star5">
            <a:avLst/>
          </a:prstGeom>
          <a:solidFill>
            <a:srgbClr val="8DCCEA">
              <a:alpha val="75416"/>
            </a:srgbClr>
          </a:solidFill>
          <a:ln/>
        </p:spPr>
      </p:sp>
      <p:sp>
        <p:nvSpPr>
          <p:cNvPr id="24" name="Shape 22"/>
          <p:cNvSpPr/>
          <p:nvPr/>
        </p:nvSpPr>
        <p:spPr>
          <a:xfrm rot="2100000">
            <a:off x="8174004" y="1572841"/>
            <a:ext cx="121505" cy="121505"/>
          </a:xfrm>
          <a:prstGeom prst="star5">
            <a:avLst/>
          </a:prstGeom>
          <a:solidFill>
            <a:srgbClr val="FF7A59">
              <a:alpha val="75288"/>
            </a:srgbClr>
          </a:solidFill>
          <a:ln/>
        </p:spPr>
      </p:sp>
      <p:sp>
        <p:nvSpPr>
          <p:cNvPr id="25" name="Shape 23"/>
          <p:cNvSpPr/>
          <p:nvPr/>
        </p:nvSpPr>
        <p:spPr>
          <a:xfrm rot="2280000">
            <a:off x="7190842" y="2733032"/>
            <a:ext cx="46320" cy="46320"/>
          </a:xfrm>
          <a:prstGeom prst="star5">
            <a:avLst/>
          </a:prstGeom>
          <a:solidFill>
            <a:srgbClr val="8DCCEA">
              <a:alpha val="88472"/>
            </a:srgbClr>
          </a:solidFill>
          <a:ln/>
        </p:spPr>
      </p:sp>
      <p:sp>
        <p:nvSpPr>
          <p:cNvPr id="26" name="Shape 24"/>
          <p:cNvSpPr/>
          <p:nvPr/>
        </p:nvSpPr>
        <p:spPr>
          <a:xfrm rot="540000">
            <a:off x="6576365" y="925812"/>
            <a:ext cx="57380" cy="57380"/>
          </a:xfrm>
          <a:prstGeom prst="star5">
            <a:avLst/>
          </a:prstGeom>
          <a:solidFill>
            <a:srgbClr val="FFC857">
              <a:alpha val="94968"/>
            </a:srgbClr>
          </a:solidFill>
          <a:ln/>
        </p:spPr>
      </p:sp>
      <p:sp>
        <p:nvSpPr>
          <p:cNvPr id="27" name="Shape 25"/>
          <p:cNvSpPr/>
          <p:nvPr/>
        </p:nvSpPr>
        <p:spPr>
          <a:xfrm rot="1620000">
            <a:off x="8358348" y="2924910"/>
            <a:ext cx="52421" cy="52421"/>
          </a:xfrm>
          <a:prstGeom prst="star5">
            <a:avLst/>
          </a:prstGeom>
          <a:solidFill>
            <a:srgbClr val="8DCCEA">
              <a:alpha val="89048"/>
            </a:srgbClr>
          </a:solidFill>
          <a:ln/>
        </p:spPr>
      </p:sp>
      <p:sp>
        <p:nvSpPr>
          <p:cNvPr id="28" name="Shape 26"/>
          <p:cNvSpPr/>
          <p:nvPr/>
        </p:nvSpPr>
        <p:spPr>
          <a:xfrm rot="1380000">
            <a:off x="9047439" y="1318492"/>
            <a:ext cx="118433" cy="118433"/>
          </a:xfrm>
          <a:prstGeom prst="star5">
            <a:avLst/>
          </a:prstGeom>
          <a:solidFill>
            <a:srgbClr val="FFC857">
              <a:alpha val="84792"/>
            </a:srgbClr>
          </a:solidFill>
          <a:ln/>
        </p:spPr>
      </p:sp>
      <p:sp>
        <p:nvSpPr>
          <p:cNvPr id="29" name="Shape 27"/>
          <p:cNvSpPr/>
          <p:nvPr/>
        </p:nvSpPr>
        <p:spPr>
          <a:xfrm rot="1260000">
            <a:off x="6936273" y="2572390"/>
            <a:ext cx="62977" cy="62977"/>
          </a:xfrm>
          <a:prstGeom prst="star5">
            <a:avLst/>
          </a:prstGeom>
          <a:solidFill>
            <a:srgbClr val="FFC857">
              <a:alpha val="92536"/>
            </a:srgbClr>
          </a:solidFill>
          <a:ln/>
        </p:spPr>
      </p:sp>
      <p:sp>
        <p:nvSpPr>
          <p:cNvPr id="30" name="Shape 28"/>
          <p:cNvSpPr/>
          <p:nvPr/>
        </p:nvSpPr>
        <p:spPr>
          <a:xfrm rot="360000">
            <a:off x="6545641" y="1198010"/>
            <a:ext cx="42062" cy="42062"/>
          </a:xfrm>
          <a:prstGeom prst="star5">
            <a:avLst/>
          </a:prstGeom>
          <a:solidFill>
            <a:srgbClr val="FFC857">
              <a:alpha val="75768"/>
            </a:srgbClr>
          </a:solidFill>
          <a:ln/>
        </p:spPr>
      </p:sp>
      <p:sp>
        <p:nvSpPr>
          <p:cNvPr id="31" name="Shape 29"/>
          <p:cNvSpPr/>
          <p:nvPr/>
        </p:nvSpPr>
        <p:spPr>
          <a:xfrm rot="480000">
            <a:off x="7142561" y="2041380"/>
            <a:ext cx="49699" cy="49699"/>
          </a:xfrm>
          <a:prstGeom prst="star5">
            <a:avLst/>
          </a:prstGeom>
          <a:solidFill>
            <a:srgbClr val="FF7A59">
              <a:alpha val="76856"/>
            </a:srgbClr>
          </a:solidFill>
          <a:ln/>
        </p:spPr>
      </p:sp>
      <p:sp>
        <p:nvSpPr>
          <p:cNvPr id="32" name="Shape 30"/>
          <p:cNvSpPr/>
          <p:nvPr/>
        </p:nvSpPr>
        <p:spPr>
          <a:xfrm rot="120000">
            <a:off x="8055498" y="2670560"/>
            <a:ext cx="90416" cy="90416"/>
          </a:xfrm>
          <a:prstGeom prst="star5">
            <a:avLst/>
          </a:prstGeom>
          <a:solidFill>
            <a:srgbClr val="FFFFFF">
              <a:alpha val="942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 rot="2880000">
            <a:off x="3645635" y="2850880"/>
            <a:ext cx="113020" cy="113020"/>
          </a:xfrm>
          <a:prstGeom prst="star5">
            <a:avLst/>
          </a:prstGeom>
          <a:solidFill>
            <a:srgbClr val="5AB2DE">
              <a:alpha val="82392"/>
            </a:srgbClr>
          </a:solidFill>
          <a:ln/>
        </p:spPr>
      </p:sp>
      <p:sp>
        <p:nvSpPr>
          <p:cNvPr id="34" name="Shape 32"/>
          <p:cNvSpPr/>
          <p:nvPr/>
        </p:nvSpPr>
        <p:spPr>
          <a:xfrm rot="780000">
            <a:off x="2283479" y="3070555"/>
            <a:ext cx="53869" cy="53869"/>
          </a:xfrm>
          <a:prstGeom prst="star5">
            <a:avLst/>
          </a:prstGeom>
          <a:solidFill>
            <a:srgbClr val="FFFFFF">
              <a:alpha val="84120"/>
            </a:srgbClr>
          </a:solidFill>
          <a:ln/>
        </p:spPr>
      </p:sp>
      <p:sp>
        <p:nvSpPr>
          <p:cNvPr id="35" name="Shape 33"/>
          <p:cNvSpPr/>
          <p:nvPr/>
        </p:nvSpPr>
        <p:spPr>
          <a:xfrm rot="660000">
            <a:off x="4579957" y="3066459"/>
            <a:ext cx="57337" cy="57337"/>
          </a:xfrm>
          <a:prstGeom prst="star5">
            <a:avLst/>
          </a:prstGeom>
          <a:solidFill>
            <a:srgbClr val="8DCCEA">
              <a:alpha val="90552"/>
            </a:srgbClr>
          </a:solidFill>
          <a:ln/>
        </p:spPr>
      </p:sp>
      <p:sp>
        <p:nvSpPr>
          <p:cNvPr id="36" name="Shape 34"/>
          <p:cNvSpPr/>
          <p:nvPr/>
        </p:nvSpPr>
        <p:spPr>
          <a:xfrm rot="2160000">
            <a:off x="11768518" y="2850368"/>
            <a:ext cx="47066" cy="47066"/>
          </a:xfrm>
          <a:prstGeom prst="star5">
            <a:avLst/>
          </a:prstGeom>
          <a:solidFill>
            <a:srgbClr val="FF7A59">
              <a:alpha val="75032"/>
            </a:srgbClr>
          </a:solidFill>
          <a:ln/>
        </p:spPr>
      </p:sp>
      <p:sp>
        <p:nvSpPr>
          <p:cNvPr id="37" name="Shape 35"/>
          <p:cNvSpPr/>
          <p:nvPr/>
        </p:nvSpPr>
        <p:spPr>
          <a:xfrm rot="2460000">
            <a:off x="6753687" y="2893381"/>
            <a:ext cx="93927" cy="93927"/>
          </a:xfrm>
          <a:prstGeom prst="star5">
            <a:avLst/>
          </a:prstGeom>
          <a:solidFill>
            <a:srgbClr val="FFC857">
              <a:alpha val="79736"/>
            </a:srgbClr>
          </a:solidFill>
          <a:ln/>
        </p:spPr>
      </p:sp>
      <p:sp>
        <p:nvSpPr>
          <p:cNvPr id="38" name="Shape 36"/>
          <p:cNvSpPr/>
          <p:nvPr/>
        </p:nvSpPr>
        <p:spPr>
          <a:xfrm rot="180000">
            <a:off x="5743093" y="3014228"/>
            <a:ext cx="39034" cy="39034"/>
          </a:xfrm>
          <a:prstGeom prst="star5">
            <a:avLst/>
          </a:prstGeom>
          <a:solidFill>
            <a:srgbClr val="FFC857">
              <a:alpha val="78648"/>
            </a:srgbClr>
          </a:solidFill>
          <a:ln/>
        </p:spPr>
      </p:sp>
      <p:sp>
        <p:nvSpPr>
          <p:cNvPr id="39" name="Shape 37"/>
          <p:cNvSpPr/>
          <p:nvPr/>
        </p:nvSpPr>
        <p:spPr>
          <a:xfrm rot="420000">
            <a:off x="11730383" y="2811963"/>
            <a:ext cx="62033" cy="62033"/>
          </a:xfrm>
          <a:prstGeom prst="star5">
            <a:avLst/>
          </a:prstGeom>
          <a:solidFill>
            <a:srgbClr val="FF7A59">
              <a:alpha val="78040"/>
            </a:srgbClr>
          </a:solidFill>
          <a:ln/>
        </p:spPr>
      </p:sp>
      <p:sp>
        <p:nvSpPr>
          <p:cNvPr id="40" name="Shape 38"/>
          <p:cNvSpPr/>
          <p:nvPr/>
        </p:nvSpPr>
        <p:spPr>
          <a:xfrm rot="2880000">
            <a:off x="671058" y="3018325"/>
            <a:ext cx="61550" cy="61550"/>
          </a:xfrm>
          <a:prstGeom prst="star5">
            <a:avLst/>
          </a:prstGeom>
          <a:solidFill>
            <a:srgbClr val="FFC857">
              <a:alpha val="80664"/>
            </a:srgbClr>
          </a:solidFill>
          <a:ln/>
        </p:spPr>
      </p:sp>
      <p:sp>
        <p:nvSpPr>
          <p:cNvPr id="41" name="Shape 39"/>
          <p:cNvSpPr/>
          <p:nvPr/>
        </p:nvSpPr>
        <p:spPr>
          <a:xfrm rot="600000">
            <a:off x="6219788" y="3066971"/>
            <a:ext cx="50007" cy="50007"/>
          </a:xfrm>
          <a:prstGeom prst="star5">
            <a:avLst/>
          </a:prstGeom>
          <a:solidFill>
            <a:srgbClr val="5AB2DE">
              <a:alpha val="90744"/>
            </a:srgbClr>
          </a:solidFill>
          <a:ln/>
        </p:spPr>
      </p:sp>
      <p:sp>
        <p:nvSpPr>
          <p:cNvPr id="42" name="Shape 40"/>
          <p:cNvSpPr/>
          <p:nvPr/>
        </p:nvSpPr>
        <p:spPr>
          <a:xfrm rot="840000">
            <a:off x="1853262" y="2794041"/>
            <a:ext cx="37234" cy="37234"/>
          </a:xfrm>
          <a:prstGeom prst="star5">
            <a:avLst/>
          </a:prstGeom>
          <a:solidFill>
            <a:srgbClr val="8DCCEA">
              <a:alpha val="85944"/>
            </a:srgbClr>
          </a:solidFill>
          <a:ln/>
        </p:spPr>
      </p:sp>
      <p:sp>
        <p:nvSpPr>
          <p:cNvPr id="43" name="Shape 41"/>
          <p:cNvSpPr/>
          <p:nvPr/>
        </p:nvSpPr>
        <p:spPr>
          <a:xfrm rot="1320000">
            <a:off x="6219788" y="2936906"/>
            <a:ext cx="52421" cy="52421"/>
          </a:xfrm>
          <a:prstGeom prst="star5">
            <a:avLst/>
          </a:prstGeom>
          <a:solidFill>
            <a:srgbClr val="8DCCEA">
              <a:alpha val="81880"/>
            </a:srgbClr>
          </a:solidFill>
          <a:ln/>
        </p:spPr>
      </p:sp>
      <p:sp>
        <p:nvSpPr>
          <p:cNvPr id="44" name="Shape 42"/>
          <p:cNvSpPr/>
          <p:nvPr/>
        </p:nvSpPr>
        <p:spPr>
          <a:xfrm rot="2100000">
            <a:off x="9099026" y="3065947"/>
            <a:ext cx="62406" cy="62406"/>
          </a:xfrm>
          <a:prstGeom prst="star5">
            <a:avLst/>
          </a:prstGeom>
          <a:solidFill>
            <a:srgbClr val="FF7A59">
              <a:alpha val="86680"/>
            </a:srgbClr>
          </a:solidFill>
          <a:ln/>
        </p:spPr>
      </p:sp>
      <p:sp>
        <p:nvSpPr>
          <p:cNvPr id="45" name="Shape 43"/>
          <p:cNvSpPr/>
          <p:nvPr/>
        </p:nvSpPr>
        <p:spPr>
          <a:xfrm rot="1080000">
            <a:off x="1042881" y="2975823"/>
            <a:ext cx="41799" cy="41799"/>
          </a:xfrm>
          <a:prstGeom prst="star5">
            <a:avLst/>
          </a:prstGeom>
          <a:solidFill>
            <a:srgbClr val="5AB2DE">
              <a:alpha val="91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 rot="1020000">
            <a:off x="10128687" y="2812987"/>
            <a:ext cx="49963" cy="49963"/>
          </a:xfrm>
          <a:prstGeom prst="star5">
            <a:avLst/>
          </a:prstGeom>
          <a:solidFill>
            <a:srgbClr val="FFC857">
              <a:alpha val="77144"/>
            </a:srgbClr>
          </a:solidFill>
          <a:ln/>
        </p:spPr>
      </p:sp>
      <p:sp>
        <p:nvSpPr>
          <p:cNvPr id="47" name="Shape 45"/>
          <p:cNvSpPr/>
          <p:nvPr/>
        </p:nvSpPr>
        <p:spPr>
          <a:xfrm rot="600000">
            <a:off x="11062800" y="849587"/>
            <a:ext cx="45749" cy="45749"/>
          </a:xfrm>
          <a:prstGeom prst="star5">
            <a:avLst/>
          </a:prstGeom>
          <a:solidFill>
            <a:srgbClr val="5AB2DE">
              <a:alpha val="87256"/>
            </a:srgbClr>
          </a:solidFill>
          <a:ln/>
        </p:spPr>
      </p:sp>
      <p:sp>
        <p:nvSpPr>
          <p:cNvPr id="48" name="Shape 46"/>
          <p:cNvSpPr/>
          <p:nvPr/>
        </p:nvSpPr>
        <p:spPr>
          <a:xfrm rot="3480000">
            <a:off x="11660784" y="686312"/>
            <a:ext cx="87709" cy="87709"/>
          </a:xfrm>
          <a:prstGeom prst="star5">
            <a:avLst/>
          </a:prstGeom>
          <a:solidFill>
            <a:srgbClr val="FF7A59">
              <a:alpha val="774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 rot="3120000">
            <a:off x="11741265" y="1321271"/>
            <a:ext cx="39341" cy="39341"/>
          </a:xfrm>
          <a:prstGeom prst="star5">
            <a:avLst/>
          </a:prstGeom>
          <a:solidFill>
            <a:srgbClr val="FFFFFF">
              <a:alpha val="78712"/>
            </a:srgbClr>
          </a:solidFill>
          <a:ln/>
        </p:spPr>
      </p:sp>
      <p:sp>
        <p:nvSpPr>
          <p:cNvPr id="50" name="Shape 48"/>
          <p:cNvSpPr/>
          <p:nvPr/>
        </p:nvSpPr>
        <p:spPr>
          <a:xfrm rot="120000">
            <a:off x="11028185" y="477683"/>
            <a:ext cx="48163" cy="48163"/>
          </a:xfrm>
          <a:prstGeom prst="star5">
            <a:avLst/>
          </a:prstGeom>
          <a:solidFill>
            <a:srgbClr val="FFFFFF">
              <a:alpha val="80312"/>
            </a:srgbClr>
          </a:solidFill>
          <a:ln/>
        </p:spPr>
      </p:sp>
      <p:sp>
        <p:nvSpPr>
          <p:cNvPr id="51" name="Shape 49"/>
          <p:cNvSpPr/>
          <p:nvPr/>
        </p:nvSpPr>
        <p:spPr>
          <a:xfrm rot="960000">
            <a:off x="12000881" y="441399"/>
            <a:ext cx="126919" cy="126919"/>
          </a:xfrm>
          <a:prstGeom prst="star5">
            <a:avLst/>
          </a:prstGeom>
          <a:solidFill>
            <a:srgbClr val="FF7A59">
              <a:alpha val="82424"/>
            </a:srgbClr>
          </a:solidFill>
          <a:ln/>
        </p:spPr>
      </p:sp>
      <p:sp>
        <p:nvSpPr>
          <p:cNvPr id="52" name="Shape 50"/>
          <p:cNvSpPr/>
          <p:nvPr/>
        </p:nvSpPr>
        <p:spPr>
          <a:xfrm rot="3420000">
            <a:off x="12042420" y="2672828"/>
            <a:ext cx="63613" cy="63613"/>
          </a:xfrm>
          <a:prstGeom prst="star5">
            <a:avLst/>
          </a:prstGeom>
          <a:solidFill>
            <a:srgbClr val="FF7A59">
              <a:alpha val="92152"/>
            </a:srgbClr>
          </a:solidFill>
          <a:ln/>
        </p:spPr>
      </p:sp>
      <p:sp>
        <p:nvSpPr>
          <p:cNvPr id="53" name="Shape 51"/>
          <p:cNvSpPr/>
          <p:nvPr/>
        </p:nvSpPr>
        <p:spPr>
          <a:xfrm rot="60000">
            <a:off x="11189147" y="2142183"/>
            <a:ext cx="49524" cy="49524"/>
          </a:xfrm>
          <a:prstGeom prst="star5">
            <a:avLst/>
          </a:prstGeom>
          <a:solidFill>
            <a:srgbClr val="FFFFFF">
              <a:alpha val="85784"/>
            </a:srgbClr>
          </a:solidFill>
          <a:ln/>
        </p:spPr>
      </p:sp>
      <p:sp>
        <p:nvSpPr>
          <p:cNvPr id="54" name="Shape 52"/>
          <p:cNvSpPr/>
          <p:nvPr/>
        </p:nvSpPr>
        <p:spPr>
          <a:xfrm rot="3360000">
            <a:off x="11847707" y="355226"/>
            <a:ext cx="44915" cy="44915"/>
          </a:xfrm>
          <a:prstGeom prst="star5">
            <a:avLst/>
          </a:prstGeom>
          <a:solidFill>
            <a:srgbClr val="8DCCEA">
              <a:alpha val="76280"/>
            </a:srgbClr>
          </a:solidFill>
          <a:ln/>
        </p:spPr>
      </p:sp>
      <p:pic>
        <p:nvPicPr>
          <p:cNvPr id="55" name="Image 0" descr="hedgehog_mo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0" y="320040"/>
            <a:ext cx="1737360" cy="1737360"/>
          </a:xfrm>
          <a:prstGeom prst="ellipse">
            <a:avLst/>
          </a:prstGeom>
        </p:spPr>
      </p:pic>
      <p:sp>
        <p:nvSpPr>
          <p:cNvPr id="56" name="Text 53"/>
          <p:cNvSpPr/>
          <p:nvPr/>
        </p:nvSpPr>
        <p:spPr>
          <a:xfrm>
            <a:off x="548640" y="45720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ATLAS</a:t>
            </a:r>
            <a:endParaRPr lang="en-US" sz="4200" dirty="0"/>
          </a:p>
        </p:txBody>
      </p:sp>
      <p:sp>
        <p:nvSpPr>
          <p:cNvPr id="57" name="Text 54"/>
          <p:cNvSpPr/>
          <p:nvPr/>
        </p:nvSpPr>
        <p:spPr>
          <a:xfrm>
            <a:off x="548640" y="12801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CDE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stargaze. Tonight. Anywhere. Any night from here forward.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548640" y="21488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D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real-time, personalized night-sky guide — built offline-first, so it works anywhere.</a:t>
            </a:r>
            <a:endParaRPr lang="en-US" sz="1250" dirty="0"/>
          </a:p>
        </p:txBody>
      </p:sp>
      <p:sp>
        <p:nvSpPr>
          <p:cNvPr id="59" name="Shape 56"/>
          <p:cNvSpPr/>
          <p:nvPr/>
        </p:nvSpPr>
        <p:spPr>
          <a:xfrm>
            <a:off x="548640" y="3520440"/>
            <a:ext cx="2533574" cy="2286000"/>
          </a:xfrm>
          <a:prstGeom prst="roundRect">
            <a:avLst>
              <a:gd name="adj" fmla="val 5600"/>
            </a:avLst>
          </a:prstGeom>
          <a:solidFill>
            <a:srgbClr val="CDEBF8"/>
          </a:solidFill>
          <a:ln/>
          <a:effectLst>
            <a:outerShdw sx="100000" sy="100000" kx="0" ky="0" algn="bl" rotWithShape="0" blurRad="101600" dist="25400" dir="5400000">
              <a:srgbClr val="1F6E96">
                <a:alpha val="12000"/>
              </a:srgbClr>
            </a:outerShdw>
          </a:effectLst>
        </p:spPr>
      </p:sp>
      <p:sp>
        <p:nvSpPr>
          <p:cNvPr id="60" name="Shape 57"/>
          <p:cNvSpPr/>
          <p:nvPr/>
        </p:nvSpPr>
        <p:spPr>
          <a:xfrm>
            <a:off x="1531963" y="3776472"/>
            <a:ext cx="566928" cy="566928"/>
          </a:xfrm>
          <a:prstGeom prst="ellipse">
            <a:avLst/>
          </a:prstGeom>
          <a:solidFill>
            <a:srgbClr val="1F6E96"/>
          </a:solidFill>
          <a:ln/>
        </p:spPr>
      </p:sp>
      <p:pic>
        <p:nvPicPr>
          <p:cNvPr id="61" name="Image 1" descr="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026" y="3912535"/>
            <a:ext cx="294803" cy="294803"/>
          </a:xfrm>
          <a:prstGeom prst="rect">
            <a:avLst/>
          </a:prstGeom>
        </p:spPr>
      </p:pic>
      <p:sp>
        <p:nvSpPr>
          <p:cNvPr id="62" name="Text 58"/>
          <p:cNvSpPr/>
          <p:nvPr/>
        </p:nvSpPr>
        <p:spPr>
          <a:xfrm>
            <a:off x="640080" y="4480560"/>
            <a:ext cx="2350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63" name="Text 59"/>
          <p:cNvSpPr/>
          <p:nvPr/>
        </p:nvSpPr>
        <p:spPr>
          <a:xfrm>
            <a:off x="731520" y="4873752"/>
            <a:ext cx="21678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knows what, when, or where to look — so they never do.</a:t>
            </a:r>
            <a:endParaRPr lang="en-US" sz="1100" dirty="0"/>
          </a:p>
        </p:txBody>
      </p:sp>
      <p:sp>
        <p:nvSpPr>
          <p:cNvPr id="64" name="Shape 60"/>
          <p:cNvSpPr/>
          <p:nvPr/>
        </p:nvSpPr>
        <p:spPr>
          <a:xfrm>
            <a:off x="3402254" y="3520440"/>
            <a:ext cx="2533574" cy="2286000"/>
          </a:xfrm>
          <a:prstGeom prst="roundRect">
            <a:avLst>
              <a:gd name="adj" fmla="val 5600"/>
            </a:avLst>
          </a:prstGeom>
          <a:solidFill>
            <a:srgbClr val="CDEBF8"/>
          </a:solidFill>
          <a:ln/>
          <a:effectLst>
            <a:outerShdw sx="100000" sy="100000" kx="0" ky="0" algn="bl" rotWithShape="0" blurRad="101600" dist="25400" dir="5400000">
              <a:srgbClr val="1F6E96">
                <a:alpha val="12000"/>
              </a:srgbClr>
            </a:outerShdw>
          </a:effectLst>
        </p:spPr>
      </p:sp>
      <p:sp>
        <p:nvSpPr>
          <p:cNvPr id="65" name="Shape 61"/>
          <p:cNvSpPr/>
          <p:nvPr/>
        </p:nvSpPr>
        <p:spPr>
          <a:xfrm>
            <a:off x="4385577" y="3776472"/>
            <a:ext cx="566928" cy="566928"/>
          </a:xfrm>
          <a:prstGeom prst="ellipse">
            <a:avLst/>
          </a:prstGeom>
          <a:solidFill>
            <a:srgbClr val="1F6E96"/>
          </a:solidFill>
          <a:ln/>
        </p:spPr>
      </p:sp>
      <p:pic>
        <p:nvPicPr>
          <p:cNvPr id="66" name="Image 2" descr="binocula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639" y="3912535"/>
            <a:ext cx="294803" cy="294803"/>
          </a:xfrm>
          <a:prstGeom prst="rect">
            <a:avLst/>
          </a:prstGeom>
        </p:spPr>
      </p:pic>
      <p:sp>
        <p:nvSpPr>
          <p:cNvPr id="67" name="Text 62"/>
          <p:cNvSpPr/>
          <p:nvPr/>
        </p:nvSpPr>
        <p:spPr>
          <a:xfrm>
            <a:off x="3493694" y="4480560"/>
            <a:ext cx="2350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500" dirty="0"/>
          </a:p>
        </p:txBody>
      </p:sp>
      <p:sp>
        <p:nvSpPr>
          <p:cNvPr id="68" name="Text 63"/>
          <p:cNvSpPr/>
          <p:nvPr/>
        </p:nvSpPr>
        <p:spPr>
          <a:xfrm>
            <a:off x="3585134" y="4873752"/>
            <a:ext cx="21678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visible tonight, from your exact spot — and any night ahead.</a:t>
            </a:r>
            <a:endParaRPr lang="en-US" sz="1100" dirty="0"/>
          </a:p>
        </p:txBody>
      </p:sp>
      <p:sp>
        <p:nvSpPr>
          <p:cNvPr id="69" name="Shape 64"/>
          <p:cNvSpPr/>
          <p:nvPr/>
        </p:nvSpPr>
        <p:spPr>
          <a:xfrm>
            <a:off x="6255868" y="3520440"/>
            <a:ext cx="2533574" cy="2286000"/>
          </a:xfrm>
          <a:prstGeom prst="roundRect">
            <a:avLst>
              <a:gd name="adj" fmla="val 5600"/>
            </a:avLst>
          </a:prstGeom>
          <a:solidFill>
            <a:srgbClr val="CDEBF8"/>
          </a:solidFill>
          <a:ln/>
          <a:effectLst>
            <a:outerShdw sx="100000" sy="100000" kx="0" ky="0" algn="bl" rotWithShape="0" blurRad="101600" dist="25400" dir="5400000">
              <a:srgbClr val="1F6E96">
                <a:alpha val="12000"/>
              </a:srgbClr>
            </a:outerShdw>
          </a:effectLst>
        </p:spPr>
      </p:sp>
      <p:sp>
        <p:nvSpPr>
          <p:cNvPr id="70" name="Shape 65"/>
          <p:cNvSpPr/>
          <p:nvPr/>
        </p:nvSpPr>
        <p:spPr>
          <a:xfrm>
            <a:off x="7239191" y="3776472"/>
            <a:ext cx="566928" cy="566928"/>
          </a:xfrm>
          <a:prstGeom prst="ellipse">
            <a:avLst/>
          </a:prstGeom>
          <a:solidFill>
            <a:srgbClr val="1F6E96"/>
          </a:solidFill>
          <a:ln/>
        </p:spPr>
      </p:sp>
      <p:pic>
        <p:nvPicPr>
          <p:cNvPr id="71" name="Image 3" descr="balan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5253" y="3912535"/>
            <a:ext cx="294803" cy="294803"/>
          </a:xfrm>
          <a:prstGeom prst="rect">
            <a:avLst/>
          </a:prstGeom>
        </p:spPr>
      </p:pic>
      <p:sp>
        <p:nvSpPr>
          <p:cNvPr id="72" name="Text 66"/>
          <p:cNvSpPr/>
          <p:nvPr/>
        </p:nvSpPr>
        <p:spPr>
          <a:xfrm>
            <a:off x="6347308" y="4480560"/>
            <a:ext cx="2350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Sky Guide</a:t>
            </a:r>
            <a:endParaRPr lang="en-US" sz="1500" dirty="0"/>
          </a:p>
        </p:txBody>
      </p:sp>
      <p:sp>
        <p:nvSpPr>
          <p:cNvPr id="73" name="Text 67"/>
          <p:cNvSpPr/>
          <p:nvPr/>
        </p:nvSpPr>
        <p:spPr>
          <a:xfrm>
            <a:off x="6438748" y="4873752"/>
            <a:ext cx="21678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plans before you go outside. Free forecasting — not a paywall.</a:t>
            </a:r>
            <a:endParaRPr lang="en-US" sz="1100" dirty="0"/>
          </a:p>
        </p:txBody>
      </p:sp>
      <p:sp>
        <p:nvSpPr>
          <p:cNvPr id="74" name="Shape 68"/>
          <p:cNvSpPr/>
          <p:nvPr/>
        </p:nvSpPr>
        <p:spPr>
          <a:xfrm>
            <a:off x="9109481" y="3520440"/>
            <a:ext cx="2533574" cy="2286000"/>
          </a:xfrm>
          <a:prstGeom prst="roundRect">
            <a:avLst>
              <a:gd name="adj" fmla="val 5600"/>
            </a:avLst>
          </a:prstGeom>
          <a:solidFill>
            <a:srgbClr val="CDEBF8"/>
          </a:solidFill>
          <a:ln/>
          <a:effectLst>
            <a:outerShdw sx="100000" sy="100000" kx="0" ky="0" algn="bl" rotWithShape="0" blurRad="101600" dist="25400" dir="5400000">
              <a:srgbClr val="1F6E96">
                <a:alpha val="12000"/>
              </a:srgbClr>
            </a:outerShdw>
          </a:effectLst>
        </p:spPr>
      </p:sp>
      <p:sp>
        <p:nvSpPr>
          <p:cNvPr id="75" name="Shape 69"/>
          <p:cNvSpPr/>
          <p:nvPr/>
        </p:nvSpPr>
        <p:spPr>
          <a:xfrm>
            <a:off x="10092804" y="3776472"/>
            <a:ext cx="566928" cy="566928"/>
          </a:xfrm>
          <a:prstGeom prst="ellipse">
            <a:avLst/>
          </a:prstGeom>
          <a:solidFill>
            <a:srgbClr val="1F6E96"/>
          </a:solidFill>
          <a:ln/>
        </p:spPr>
      </p:sp>
      <p:pic>
        <p:nvPicPr>
          <p:cNvPr id="76" name="Image 4" descr="coin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8867" y="3912535"/>
            <a:ext cx="294803" cy="294803"/>
          </a:xfrm>
          <a:prstGeom prst="rect">
            <a:avLst/>
          </a:prstGeom>
        </p:spPr>
      </p:pic>
      <p:sp>
        <p:nvSpPr>
          <p:cNvPr id="77" name="Text 70"/>
          <p:cNvSpPr/>
          <p:nvPr/>
        </p:nvSpPr>
        <p:spPr>
          <a:xfrm>
            <a:off x="9200921" y="4480560"/>
            <a:ext cx="2350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500" dirty="0"/>
          </a:p>
        </p:txBody>
      </p:sp>
      <p:sp>
        <p:nvSpPr>
          <p:cNvPr id="78" name="Text 71"/>
          <p:cNvSpPr/>
          <p:nvPr/>
        </p:nvSpPr>
        <p:spPr>
          <a:xfrm>
            <a:off x="9292361" y="4873752"/>
            <a:ext cx="21678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Freemium: free for everyone, paid tier for trip planning &amp; alerts.</a:t>
            </a:r>
            <a:endParaRPr lang="en-US" sz="1100" dirty="0"/>
          </a:p>
        </p:txBody>
      </p:sp>
      <p:sp>
        <p:nvSpPr>
          <p:cNvPr id="79" name="Shape 7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F6E96"/>
          </a:solidFill>
          <a:ln/>
        </p:spPr>
      </p:sp>
      <p:sp>
        <p:nvSpPr>
          <p:cNvPr id="80" name="Shape 73"/>
          <p:cNvSpPr/>
          <p:nvPr/>
        </p:nvSpPr>
        <p:spPr>
          <a:xfrm rot="180000">
            <a:off x="9518518" y="6024784"/>
            <a:ext cx="86799" cy="86799"/>
          </a:xfrm>
          <a:prstGeom prst="star5">
            <a:avLst/>
          </a:prstGeom>
          <a:solidFill>
            <a:srgbClr val="FF7A59">
              <a:alpha val="65000"/>
            </a:srgbClr>
          </a:solidFill>
          <a:ln/>
        </p:spPr>
      </p:sp>
      <p:sp>
        <p:nvSpPr>
          <p:cNvPr id="81" name="Shape 74"/>
          <p:cNvSpPr/>
          <p:nvPr/>
        </p:nvSpPr>
        <p:spPr>
          <a:xfrm rot="1200000">
            <a:off x="6238856" y="6042575"/>
            <a:ext cx="43994" cy="43994"/>
          </a:xfrm>
          <a:prstGeom prst="star5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82" name="Shape 75"/>
          <p:cNvSpPr/>
          <p:nvPr/>
        </p:nvSpPr>
        <p:spPr>
          <a:xfrm rot="1860000">
            <a:off x="938008" y="5998215"/>
            <a:ext cx="41360" cy="41360"/>
          </a:xfrm>
          <a:prstGeom prst="star5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83" name="Shape 76"/>
          <p:cNvSpPr/>
          <p:nvPr/>
        </p:nvSpPr>
        <p:spPr>
          <a:xfrm rot="2220000">
            <a:off x="11425298" y="6011324"/>
            <a:ext cx="49348" cy="49348"/>
          </a:xfrm>
          <a:prstGeom prst="star5">
            <a:avLst/>
          </a:prstGeom>
          <a:solidFill>
            <a:srgbClr val="5AB2DE">
              <a:alpha val="65000"/>
            </a:srgbClr>
          </a:solidFill>
          <a:ln/>
        </p:spPr>
      </p:sp>
      <p:sp>
        <p:nvSpPr>
          <p:cNvPr id="84" name="Shape 77"/>
          <p:cNvSpPr/>
          <p:nvPr/>
        </p:nvSpPr>
        <p:spPr>
          <a:xfrm rot="180000">
            <a:off x="8240975" y="6008515"/>
            <a:ext cx="98316" cy="98316"/>
          </a:xfrm>
          <a:prstGeom prst="star5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85" name="Shape 78"/>
          <p:cNvSpPr/>
          <p:nvPr/>
        </p:nvSpPr>
        <p:spPr>
          <a:xfrm rot="1500000">
            <a:off x="11940128" y="6036605"/>
            <a:ext cx="47549" cy="47549"/>
          </a:xfrm>
          <a:prstGeom prst="star5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86" name="Shape 79"/>
          <p:cNvSpPr/>
          <p:nvPr/>
        </p:nvSpPr>
        <p:spPr>
          <a:xfrm rot="1140000">
            <a:off x="690126" y="6036020"/>
            <a:ext cx="109655" cy="109655"/>
          </a:xfrm>
          <a:prstGeom prst="star5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87" name="Shape 80"/>
          <p:cNvSpPr/>
          <p:nvPr/>
        </p:nvSpPr>
        <p:spPr>
          <a:xfrm rot="240000">
            <a:off x="10662586" y="6742756"/>
            <a:ext cx="58609" cy="58609"/>
          </a:xfrm>
          <a:prstGeom prst="star5">
            <a:avLst/>
          </a:prstGeom>
          <a:solidFill>
            <a:srgbClr val="8DCCEA">
              <a:alpha val="65000"/>
            </a:srgbClr>
          </a:solidFill>
          <a:ln/>
        </p:spPr>
      </p:sp>
      <p:sp>
        <p:nvSpPr>
          <p:cNvPr id="88" name="Shape 81"/>
          <p:cNvSpPr/>
          <p:nvPr/>
        </p:nvSpPr>
        <p:spPr>
          <a:xfrm rot="840000">
            <a:off x="3969788" y="6796713"/>
            <a:ext cx="109435" cy="109435"/>
          </a:xfrm>
          <a:prstGeom prst="star5">
            <a:avLst/>
          </a:prstGeom>
          <a:solidFill>
            <a:srgbClr val="8DCCEA">
              <a:alpha val="65000"/>
            </a:srgbClr>
          </a:solidFill>
          <a:ln/>
        </p:spPr>
      </p:sp>
      <p:sp>
        <p:nvSpPr>
          <p:cNvPr id="89" name="Shape 82"/>
          <p:cNvSpPr/>
          <p:nvPr/>
        </p:nvSpPr>
        <p:spPr>
          <a:xfrm rot="2760000">
            <a:off x="5037585" y="6788871"/>
            <a:ext cx="48997" cy="48997"/>
          </a:xfrm>
          <a:prstGeom prst="star5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90" name="Shape 83"/>
          <p:cNvSpPr/>
          <p:nvPr/>
        </p:nvSpPr>
        <p:spPr>
          <a:xfrm rot="3060000">
            <a:off x="8412585" y="6787116"/>
            <a:ext cx="87782" cy="87782"/>
          </a:xfrm>
          <a:prstGeom prst="star5">
            <a:avLst/>
          </a:prstGeom>
          <a:solidFill>
            <a:srgbClr val="FF7A59">
              <a:alpha val="65000"/>
            </a:srgbClr>
          </a:solidFill>
          <a:ln/>
        </p:spPr>
      </p:sp>
      <p:sp>
        <p:nvSpPr>
          <p:cNvPr id="91" name="Shape 84"/>
          <p:cNvSpPr/>
          <p:nvPr/>
        </p:nvSpPr>
        <p:spPr>
          <a:xfrm rot="2160000">
            <a:off x="4122330" y="6802214"/>
            <a:ext cx="57863" cy="57863"/>
          </a:xfrm>
          <a:prstGeom prst="star5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2" name="Shape 85"/>
          <p:cNvSpPr/>
          <p:nvPr/>
        </p:nvSpPr>
        <p:spPr>
          <a:xfrm rot="1620000">
            <a:off x="10548179" y="6795777"/>
            <a:ext cx="61506" cy="61506"/>
          </a:xfrm>
          <a:prstGeom prst="star5">
            <a:avLst/>
          </a:prstGeom>
          <a:solidFill>
            <a:srgbClr val="FFC857">
              <a:alpha val="65000"/>
            </a:srgbClr>
          </a:solidFill>
          <a:ln/>
        </p:spPr>
      </p:sp>
      <p:sp>
        <p:nvSpPr>
          <p:cNvPr id="93" name="Shape 86"/>
          <p:cNvSpPr/>
          <p:nvPr/>
        </p:nvSpPr>
        <p:spPr>
          <a:xfrm rot="3000000">
            <a:off x="4475085" y="6753056"/>
            <a:ext cx="124212" cy="124212"/>
          </a:xfrm>
          <a:prstGeom prst="star5">
            <a:avLst/>
          </a:prstGeom>
          <a:solidFill>
            <a:srgbClr val="8DCCEA">
              <a:alpha val="65000"/>
            </a:srgbClr>
          </a:solidFill>
          <a:ln/>
        </p:spPr>
      </p:sp>
      <p:sp>
        <p:nvSpPr>
          <p:cNvPr id="94" name="Text 87"/>
          <p:cNvSpPr/>
          <p:nvPr/>
        </p:nvSpPr>
        <p:spPr>
          <a:xfrm>
            <a:off x="548640" y="604418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DE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95" name="Text 88"/>
          <p:cNvSpPr/>
          <p:nvPr/>
        </p:nvSpPr>
        <p:spPr>
          <a:xfrm>
            <a:off x="548640" y="629107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Astronomy, observatory &amp; dark-sky tourism partners to enrich our data — plus seed funding to build past EIA.</a:t>
            </a:r>
            <a:endParaRPr lang="en-US" sz="1200" dirty="0"/>
          </a:p>
        </p:txBody>
      </p:sp>
      <p:sp>
        <p:nvSpPr>
          <p:cNvPr id="96" name="Text 89"/>
          <p:cNvSpPr/>
          <p:nvPr/>
        </p:nvSpPr>
        <p:spPr>
          <a:xfrm>
            <a:off x="8869680" y="5943600"/>
            <a:ext cx="27733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youratlas.cc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2026-07-17T16:44:19Z</dcterms:created>
  <dcterms:modified xsi:type="dcterms:W3CDTF">2026-07-17T16:44:19Z</dcterms:modified>
</cp:coreProperties>
</file>