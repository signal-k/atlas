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93" y="541511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52296" y="3692291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45499" y="6659383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68463" y="4721898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50808" y="4859012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49584" y="8012554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87766" y="2634159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7916" y="8324452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89247" y="8803505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49681" y="347409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62664" y="158068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43848" y="3871881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12661" y="6275651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51648" y="1201375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28943" y="5769066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29216" y="8397423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69921" y="8389731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08144" y="8120068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11673" y="8791626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66956" y="3454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92114" y="4993958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74373" y="7503075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37598" y="5028978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437" y="19238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743279" y="108744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24061" y="9066192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15663" y="7332493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9226" y="9068575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43769" y="3595206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847278" y="6698353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50716" y="6713331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72897" y="5312016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15079" y="5052422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627224" y="2271204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50711" y="1790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68314" y="8000751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69509" y="3677957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41985" y="3266714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96980" y="4826963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18155" y="2649363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026" y="2278480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54102" y="3900877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270505" y="3277060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74775" y="8891684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067029" y="4881940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1790" y="8995406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972109" y="6357459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92168" y="1466012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58294" y="7810610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7345" y="6219190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877008" y="2348667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38705" y="7140267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049414" y="8927959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552649" y="6501250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17748" y="5666587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81798" y="4387374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213029" y="5087551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97791" y="1384988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762023" y="3563148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26466" y="8281486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6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6220" y="2331720"/>
            <a:ext cx="1051560" cy="105156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0" y="365760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000" dirty="0"/>
          </a:p>
        </p:txBody>
      </p:sp>
      <p:sp>
        <p:nvSpPr>
          <p:cNvPr id="64" name="Text 61"/>
          <p:cNvSpPr/>
          <p:nvPr/>
        </p:nvSpPr>
        <p:spPr>
          <a:xfrm>
            <a:off x="0" y="448056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3000" dirty="0"/>
          </a:p>
        </p:txBody>
      </p:sp>
      <p:sp>
        <p:nvSpPr>
          <p:cNvPr id="65" name="Text 62"/>
          <p:cNvSpPr/>
          <p:nvPr/>
        </p:nvSpPr>
        <p:spPr>
          <a:xfrm>
            <a:off x="731520" y="5166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the phone already in your pocket.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0" y="8183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SEE THE PITCH  →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E8C368"/>
          </a:solidFill>
          <a:ln/>
        </p:spPr>
      </p:sp>
      <p:sp>
        <p:nvSpPr>
          <p:cNvPr id="68" name="Shape 65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69" name="Shape 66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0" name="Shape 67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1" name="Shape 68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2" name="Shape 69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3" name="Shape 70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4" name="Shape 71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BUILDING THIS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 in this industry, building the app he needed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7955280" cy="1554480"/>
          </a:xfrm>
          <a:prstGeom prst="roundRect">
            <a:avLst>
              <a:gd name="adj" fmla="val 7059"/>
            </a:avLst>
          </a:prstGeom>
          <a:solidFill>
            <a:srgbClr val="F6F4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32888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“I’ve spent thousands of francs on telescopes. Now I live out of a suitcase — just my eyes and a phone. Atlas is the app I wished existed.”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5021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Martin, Founder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9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428853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Astrophysics &amp; astrodynamics, Swinburne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4818888"/>
            <a:ext cx="457200" cy="45720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494690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48188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Star Sailors — 2,000+ citizen scientists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547725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8232A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" y="5673852"/>
            <a:ext cx="228600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0956" y="5591556"/>
            <a:ext cx="64008" cy="228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1234440" y="54772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Engineer, DeSci Labs &amp; Star Alliance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94360" y="6135624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9" name="Image 2" descr="/sessions/dreamy-zealous-galileo/mnt/outputs/atlas_deck/assets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626364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61356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engineer, fraud prevention — Bank of Melbourne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2" name="Shape 17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9B3FF2"/>
          </a:solidFill>
          <a:ln/>
        </p:spPr>
      </p:sp>
      <p:sp>
        <p:nvSpPr>
          <p:cNvPr id="23" name="Shape 18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4" name="Shape 19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5" name="Shape 20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6" name="Shape 21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7" name="Shape 22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8" name="Shape 23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sky. Just the part that matters tonight.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420624" cy="42062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7" name="Image 0" descr="/sessions/dreamy-zealous-galileo/mnt/outputs/atlas_deck/assets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7063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670048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even visible tonight?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3310128"/>
            <a:ext cx="420624" cy="42062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0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2900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328416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worth going outside?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94360" y="3968496"/>
            <a:ext cx="420624" cy="42062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3" name="Image 2" descr="/sessions/dreamy-zealous-galileo/mnt/outputs/atlas_deck/assets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087368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986784"/>
            <a:ext cx="7360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I even point my phone?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94360" y="4855464"/>
            <a:ext cx="7955280" cy="1691640"/>
          </a:xfrm>
          <a:prstGeom prst="roundRect">
            <a:avLst>
              <a:gd name="adj" fmla="val 6486"/>
            </a:avLst>
          </a:prstGeom>
          <a:solidFill>
            <a:srgbClr val="F6F4FB"/>
          </a:solidFill>
          <a:ln/>
        </p:spPr>
      </p:sp>
      <p:sp>
        <p:nvSpPr>
          <p:cNvPr id="16" name="Text 11"/>
          <p:cNvSpPr/>
          <p:nvPr/>
        </p:nvSpPr>
        <p:spPr>
          <a:xfrm>
            <a:off x="914400" y="50383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914400" y="5312664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“Here, there are amazing things you can see. You don’t need a scope. You just need your eye and an atlas — this Atlas.”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4400" y="62270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Arbuckle, at the Atlas launch event, London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94360" y="6803136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3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the sky. In plain language. For free.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1" name="Shape 16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2" name="Shape 17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9B3FF2"/>
          </a:solidFill>
          <a:ln/>
        </p:spPr>
      </p:sp>
      <p:sp>
        <p:nvSpPr>
          <p:cNvPr id="23" name="Shape 18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4" name="Shape 19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5" name="Shape 20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6" name="Shape 21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7" name="Shape 22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93" y="541511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52296" y="3692291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45499" y="6659383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68463" y="4721898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50808" y="4859012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49584" y="8012554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87766" y="2634159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7916" y="8324452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89247" y="8803505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49681" y="347409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62664" y="158068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43848" y="3871881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12661" y="6275651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51648" y="1201375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28943" y="5769066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29216" y="8397423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69921" y="8389731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08144" y="8120068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11673" y="8791626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66956" y="3454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92114" y="4993958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74373" y="7503075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37598" y="5028978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437" y="19238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743279" y="108744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24061" y="9066192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15663" y="7332493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9226" y="9068575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43769" y="3595206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847278" y="6698353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50716" y="6713331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72897" y="5312016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15079" y="5052422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627224" y="2271204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50711" y="1790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68314" y="8000751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69509" y="3677957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41985" y="3266714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96980" y="4826963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18155" y="2649363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026" y="2278480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54102" y="3900877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270505" y="3277060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74775" y="8891684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067029" y="4881940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1790" y="8995406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972109" y="6357459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92168" y="1466012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58294" y="7810610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7345" y="6219190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877008" y="2348667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38705" y="7140267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049414" y="8927959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552649" y="6501250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17748" y="5666587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81798" y="4387374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213029" y="5087551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97791" y="1384988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762023" y="3563148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26466" y="8281486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94360" y="365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94360" y="7772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SELLS ITSELF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94360" y="155448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0500" dirty="0"/>
          </a:p>
        </p:txBody>
      </p:sp>
      <p:sp>
        <p:nvSpPr>
          <p:cNvPr id="65" name="Text 63"/>
          <p:cNvSpPr/>
          <p:nvPr/>
        </p:nvSpPr>
        <p:spPr>
          <a:xfrm>
            <a:off x="594360" y="32461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free users opened Plan — the trip planner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94360" y="384048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but 9 started subscribing on the spot.</a:t>
            </a:r>
            <a:endParaRPr lang="en-US" sz="2100" dirty="0"/>
          </a:p>
        </p:txBody>
      </p:sp>
      <p:sp>
        <p:nvSpPr>
          <p:cNvPr id="67" name="Text 65"/>
          <p:cNvSpPr/>
          <p:nvPr/>
        </p:nvSpPr>
        <p:spPr>
          <a:xfrm>
            <a:off x="594360" y="4892040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BUNDLES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1188720" y="534924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69" name="Image 0" descr="/sessions/dreamy-zealous-galileo/mnt/outputs/atlas_deck/assets/icons/mo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5495544"/>
            <a:ext cx="164592" cy="164592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1828800" y="5349240"/>
            <a:ext cx="6720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time to go outside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1188720" y="6007608"/>
            <a:ext cx="457200" cy="45720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72" name="Image 1" descr="/sessions/dreamy-zealous-galileo/mnt/outputs/atlas_deck/assets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024" y="6153912"/>
            <a:ext cx="164592" cy="164592"/>
          </a:xfrm>
          <a:prstGeom prst="rect">
            <a:avLst/>
          </a:prstGeom>
        </p:spPr>
      </p:pic>
      <p:sp>
        <p:nvSpPr>
          <p:cNvPr id="73" name="Text 69"/>
          <p:cNvSpPr/>
          <p:nvPr/>
        </p:nvSpPr>
        <p:spPr>
          <a:xfrm>
            <a:off x="1828800" y="6007608"/>
            <a:ext cx="6720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trip &amp; gear recommendations</a:t>
            </a:r>
            <a:endParaRPr lang="en-US" sz="1400" dirty="0"/>
          </a:p>
        </p:txBody>
      </p:sp>
      <p:sp>
        <p:nvSpPr>
          <p:cNvPr id="74" name="Shape 70"/>
          <p:cNvSpPr/>
          <p:nvPr/>
        </p:nvSpPr>
        <p:spPr>
          <a:xfrm>
            <a:off x="1188720" y="6665976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5" name="Image 2" descr="/sessions/dreamy-zealous-galileo/mnt/outputs/atlas_deck/assets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6812280"/>
            <a:ext cx="164592" cy="164592"/>
          </a:xfrm>
          <a:prstGeom prst="rect">
            <a:avLst/>
          </a:prstGeom>
        </p:spPr>
      </p:pic>
      <p:sp>
        <p:nvSpPr>
          <p:cNvPr id="76" name="Text 71"/>
          <p:cNvSpPr/>
          <p:nvPr/>
        </p:nvSpPr>
        <p:spPr>
          <a:xfrm>
            <a:off x="1828800" y="6665976"/>
            <a:ext cx="6720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Phone-specific camera settings</a:t>
            </a:r>
            <a:endParaRPr lang="en-US" sz="1400" dirty="0"/>
          </a:p>
        </p:txBody>
      </p:sp>
      <p:sp>
        <p:nvSpPr>
          <p:cNvPr id="77" name="Text 72"/>
          <p:cNvSpPr/>
          <p:nvPr/>
        </p:nvSpPr>
        <p:spPr>
          <a:xfrm>
            <a:off x="0" y="7461504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page. One plan.</a:t>
            </a:r>
            <a:endParaRPr lang="en-US" sz="1400" dirty="0"/>
          </a:p>
        </p:txBody>
      </p:sp>
      <p:sp>
        <p:nvSpPr>
          <p:cNvPr id="78" name="Shape 73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9" name="Shape 74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80" name="Shape 75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81" name="Shape 76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E8C368"/>
          </a:solidFill>
          <a:ln/>
        </p:spPr>
      </p:sp>
      <p:sp>
        <p:nvSpPr>
          <p:cNvPr id="82" name="Shape 77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83" name="Shape 78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84" name="Shape 79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85" name="Shape 80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weeks. Real strangers. Real money.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14 July 2026 — zero ad spend.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0B0D14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468880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95528" y="315468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0B0D14"/>
          </a:solidFill>
          <a:ln/>
        </p:spPr>
      </p:sp>
      <p:sp>
        <p:nvSpPr>
          <p:cNvPr id="10" name="Text 8"/>
          <p:cNvSpPr/>
          <p:nvPr/>
        </p:nvSpPr>
        <p:spPr>
          <a:xfrm>
            <a:off x="4864608" y="2468880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64608" y="315468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0B0D14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4069080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1,028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95528" y="475488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886200"/>
            <a:ext cx="3886200" cy="1417320"/>
          </a:xfrm>
          <a:prstGeom prst="roundRect">
            <a:avLst>
              <a:gd name="adj" fmla="val 6452"/>
            </a:avLst>
          </a:prstGeom>
          <a:solidFill>
            <a:srgbClr val="0B0D14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4069080"/>
            <a:ext cx="34838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64608" y="4754880"/>
            <a:ext cx="3483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strangers*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5486400"/>
            <a:ext cx="7955280" cy="1051560"/>
          </a:xfrm>
          <a:prstGeom prst="roundRect">
            <a:avLst>
              <a:gd name="adj" fmla="val 8696"/>
            </a:avLst>
          </a:prstGeom>
          <a:solidFill>
            <a:srgbClr val="F6F4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715000"/>
            <a:ext cx="420624" cy="42062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0" descr="/sessions/dreamy-zealous-galileo/mnt/outputs/atlas_deck/assets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5824728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71600" y="566928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story views → 40 clicks into the app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371600" y="608990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Stories. One personal account. Zero ad spend.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94360" y="66751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*21 have no personal relationship to the founder — several via an Amsterdam astronomy group.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5" name="Shape 22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6" name="Shape 23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7" name="Shape 24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8" name="Shape 25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9B3FF2"/>
          </a:solidFill>
          <a:ln/>
        </p:spPr>
      </p:sp>
      <p:sp>
        <p:nvSpPr>
          <p:cNvPr id="29" name="Shape 26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30" name="Shape 27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31" name="Shape 28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grows from here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confidence Atlas already builds — here’s where it leads.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7955280" cy="1737360"/>
          </a:xfrm>
          <a:prstGeom prst="roundRect">
            <a:avLst>
              <a:gd name="adj" fmla="val 6316"/>
            </a:avLst>
          </a:prstGeom>
          <a:solidFill>
            <a:srgbClr val="F6F4FB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542032"/>
            <a:ext cx="475488" cy="475488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" name="Image 0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688336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8716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&amp; gear partners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0392" y="3154680"/>
            <a:ext cx="7443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 into better gear, without owning it outright.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4206240"/>
            <a:ext cx="7955280" cy="1737360"/>
          </a:xfrm>
          <a:prstGeom prst="roundRect">
            <a:avLst>
              <a:gd name="adj" fmla="val 6316"/>
            </a:avLst>
          </a:prstGeom>
          <a:solidFill>
            <a:srgbClr val="F6F4FB"/>
          </a:solidFill>
          <a:ln/>
        </p:spPr>
      </p:sp>
      <p:sp>
        <p:nvSpPr>
          <p:cNvPr id="12" name="Shape 9"/>
          <p:cNvSpPr/>
          <p:nvPr/>
        </p:nvSpPr>
        <p:spPr>
          <a:xfrm>
            <a:off x="850392" y="4462272"/>
            <a:ext cx="475488" cy="475488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3" name="Image 1" descr="/sessions/dreamy-zealous-galileo/mnt/outputs/atlas_deck/assets/icons/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4608576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912864" y="448056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/>
        </p:spPr>
      </p:sp>
      <p:sp>
        <p:nvSpPr>
          <p:cNvPr id="15" name="Text 11"/>
          <p:cNvSpPr/>
          <p:nvPr/>
        </p:nvSpPr>
        <p:spPr>
          <a:xfrm>
            <a:off x="6912864" y="44805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Mentor-validated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463040" y="440740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dark-sky tours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50392" y="5074920"/>
            <a:ext cx="7443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Ticketed, in-person nights at real dark-sky sites.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94360" y="6126480"/>
            <a:ext cx="7955280" cy="1737360"/>
          </a:xfrm>
          <a:prstGeom prst="roundRect">
            <a:avLst>
              <a:gd name="adj" fmla="val 6316"/>
            </a:avLst>
          </a:prstGeom>
          <a:solidFill>
            <a:srgbClr val="F6F4FB"/>
          </a:solidFill>
          <a:ln/>
        </p:spPr>
      </p:sp>
      <p:sp>
        <p:nvSpPr>
          <p:cNvPr id="19" name="Shape 15"/>
          <p:cNvSpPr/>
          <p:nvPr/>
        </p:nvSpPr>
        <p:spPr>
          <a:xfrm>
            <a:off x="850392" y="6382512"/>
            <a:ext cx="475488" cy="475488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2" descr="/sessions/dreamy-zealous-galileo/mnt/outputs/atlas_deck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6528816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63040" y="6327648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growth flywheel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0392" y="6995160"/>
            <a:ext cx="74432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Shorts and The Daily Transit, converting strangers already.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4" name="Shape 19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5" name="Shape 20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6" name="Shape 21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7" name="Shape 22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8" name="Shape 23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9B3FF2"/>
          </a:solidFill>
          <a:ln/>
        </p:spPr>
      </p:sp>
      <p:sp>
        <p:nvSpPr>
          <p:cNvPr id="29" name="Shape 24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30" name="Shape 25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14300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Atlas needs next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7955280" cy="2331720"/>
          </a:xfrm>
          <a:prstGeom prst="roundRect">
            <a:avLst>
              <a:gd name="adj" fmla="val 4706"/>
            </a:avLst>
          </a:prstGeom>
          <a:solidFill>
            <a:srgbClr val="F6F4F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" name="Image 0" descr="/sessions/dreamy-zealous-galileo/mnt/outputs/atlas_deck/assets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4323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funding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41071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Atlas off the phone — real dark-sky tours, real events, real physical presence in the cities we already have users 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4526280"/>
            <a:ext cx="7955280" cy="2331720"/>
          </a:xfrm>
          <a:prstGeom prst="roundRect">
            <a:avLst>
              <a:gd name="adj" fmla="val 4706"/>
            </a:avLst>
          </a:prstGeom>
          <a:solidFill>
            <a:srgbClr val="F6F4FB"/>
          </a:solidFill>
          <a:ln/>
        </p:spPr>
      </p:sp>
      <p:sp>
        <p:nvSpPr>
          <p:cNvPr id="11" name="Shape 8"/>
          <p:cNvSpPr/>
          <p:nvPr/>
        </p:nvSpPr>
        <p:spPr>
          <a:xfrm>
            <a:off x="914400" y="4846320"/>
            <a:ext cx="548640" cy="54864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49926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5532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strategic partner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914400" y="597103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Atlas more capable and help build the infrastructure for space tourism — with Atlas as the flagship.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94360" y="713232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87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app already in your pocket, to the trip you actually take.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18" name="Shape 14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19" name="Shape 15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0" name="Shape 16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1" name="Shape 17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  <p:sp>
        <p:nvSpPr>
          <p:cNvPr id="22" name="Shape 18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9B3FF2"/>
          </a:solidFill>
          <a:ln/>
        </p:spPr>
      </p:sp>
      <p:sp>
        <p:nvSpPr>
          <p:cNvPr id="23" name="Shape 19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DDD9E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993" y="541511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52296" y="3692291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45499" y="6659383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68463" y="4721898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650808" y="4859012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49584" y="8012554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87766" y="2634159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7916" y="8324452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89247" y="8803505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49681" y="347409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62664" y="158068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43848" y="3871881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12661" y="6275651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51648" y="1201375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728943" y="5769066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29216" y="8397423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69921" y="8389731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908144" y="8120068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11673" y="8791626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466956" y="3454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92114" y="4993958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074373" y="7503075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737598" y="5028978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7437" y="19238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743279" y="108744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24061" y="9066192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915663" y="7332493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49226" y="9068575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43769" y="3595206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847278" y="6698353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550716" y="6713331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072897" y="5312016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15079" y="5052422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627224" y="2271204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50711" y="1790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968314" y="8000751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569509" y="3677957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41985" y="3266714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96980" y="4826963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18155" y="2649363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026" y="2278480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054102" y="3900877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270505" y="3277060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674775" y="8891684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067029" y="4881940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211790" y="8995406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972109" y="6357459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92168" y="1466012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558294" y="7810610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7345" y="6219190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877008" y="2348667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438705" y="7140267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049414" y="8927959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552649" y="6501250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617748" y="5666587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581798" y="4387374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4213029" y="5087551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97791" y="1384988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762023" y="3563148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826466" y="8281486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6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7660" y="2286000"/>
            <a:ext cx="868680" cy="86868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0" y="34290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3600" dirty="0"/>
          </a:p>
        </p:txBody>
      </p:sp>
      <p:sp>
        <p:nvSpPr>
          <p:cNvPr id="64" name="Text 61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what’s already in your pocket.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3017520" y="5120640"/>
            <a:ext cx="3108960" cy="566928"/>
          </a:xfrm>
          <a:prstGeom prst="roundRect">
            <a:avLst>
              <a:gd name="adj" fmla="val 50000"/>
            </a:avLst>
          </a:prstGeom>
          <a:solidFill>
            <a:srgbClr val="E8C368"/>
          </a:solidFill>
          <a:ln/>
        </p:spPr>
      </p:sp>
      <p:sp>
        <p:nvSpPr>
          <p:cNvPr id="66" name="Text 63"/>
          <p:cNvSpPr/>
          <p:nvPr/>
        </p:nvSpPr>
        <p:spPr>
          <a:xfrm>
            <a:off x="3017520" y="512064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journey</a:t>
            </a:r>
            <a:endParaRPr lang="en-US" sz="1400" dirty="0"/>
          </a:p>
        </p:txBody>
      </p:sp>
      <p:sp>
        <p:nvSpPr>
          <p:cNvPr id="67" name="Text 64"/>
          <p:cNvSpPr/>
          <p:nvPr/>
        </p:nvSpPr>
        <p:spPr>
          <a:xfrm>
            <a:off x="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youratlas.cc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3950208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69" name="Shape 66"/>
          <p:cNvSpPr/>
          <p:nvPr/>
        </p:nvSpPr>
        <p:spPr>
          <a:xfrm>
            <a:off x="4114800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0" name="Shape 67"/>
          <p:cNvSpPr/>
          <p:nvPr/>
        </p:nvSpPr>
        <p:spPr>
          <a:xfrm>
            <a:off x="4279392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1" name="Shape 68"/>
          <p:cNvSpPr/>
          <p:nvPr/>
        </p:nvSpPr>
        <p:spPr>
          <a:xfrm>
            <a:off x="4443984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2" name="Shape 69"/>
          <p:cNvSpPr/>
          <p:nvPr/>
        </p:nvSpPr>
        <p:spPr>
          <a:xfrm>
            <a:off x="4608576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3" name="Shape 70"/>
          <p:cNvSpPr/>
          <p:nvPr/>
        </p:nvSpPr>
        <p:spPr>
          <a:xfrm>
            <a:off x="4773168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4" name="Shape 71"/>
          <p:cNvSpPr/>
          <p:nvPr/>
        </p:nvSpPr>
        <p:spPr>
          <a:xfrm>
            <a:off x="4937760" y="8714232"/>
            <a:ext cx="91440" cy="91440"/>
          </a:xfrm>
          <a:prstGeom prst="ellipse">
            <a:avLst/>
          </a:prstGeom>
          <a:solidFill>
            <a:srgbClr val="3A3D4A"/>
          </a:solidFill>
          <a:ln/>
        </p:spPr>
      </p:sp>
      <p:sp>
        <p:nvSpPr>
          <p:cNvPr id="75" name="Shape 72"/>
          <p:cNvSpPr/>
          <p:nvPr/>
        </p:nvSpPr>
        <p:spPr>
          <a:xfrm>
            <a:off x="5102352" y="8714232"/>
            <a:ext cx="91440" cy="91440"/>
          </a:xfrm>
          <a:prstGeom prst="ellipse">
            <a:avLst/>
          </a:prstGeom>
          <a:solidFill>
            <a:srgbClr val="E8C36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2026-07-29T22:13:45Z</dcterms:created>
  <dcterms:modified xsi:type="dcterms:W3CDTF">2026-07-29T22:13:45Z</dcterms:modified>
</cp:coreProperties>
</file>